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69" r:id="rId15"/>
    <p:sldId id="275" r:id="rId16"/>
    <p:sldId id="274" r:id="rId1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AA6B6A-65BC-43F4-8611-9C920330BCF8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F7E6A-76B0-4D8B-BF04-E5C7C70641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00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F7E6A-76B0-4D8B-BF04-E5C7C70641E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40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68A8C8-2F4D-8E6C-AF57-99B21D9FD7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B1EA57D-4040-50B9-7003-7B0D195A33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AEDFBD-3CAC-67BB-A3FC-5D049EDBF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0DABC0-6280-16F0-487E-BC3940B2F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B25A98-0DB6-73D8-E582-D4007F8C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15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17B17-55DD-486A-AAB7-93E4DE4C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075BEC-9DAB-3144-1BB0-8B4D69E83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FB17D9-A7F1-5217-8EFA-136D9098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9E4DA0-6ABE-7C95-A9BE-9E29653E1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F97F025-8911-8874-234B-68D39976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121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2769ED-F0C2-81F2-CA2D-E8577C6F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1969E3-CCCE-8070-2956-44A1C372C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3A498A-BBA1-46AF-F71F-232C2035D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925411-E9E9-560F-A66F-A4C1ABAE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DC0557-26CA-8449-4F74-E4B1E977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55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9D2A4-A004-1CAC-6657-8AED68E25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22E092-92E9-5028-D47B-15CD7C752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1BC71C-1D66-25A7-0E7D-ED6E48CB7B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7A360F-0EF3-E16B-4871-0D7EF2CFC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C46B1A-FFAA-E5AA-80BA-3C61C4B49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A21F52-AE31-1DEB-E914-89EB322EB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304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7EF731-C4FD-50ED-DB7D-CEFC3BF34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503EA5-353C-8DA6-0962-5BF7EC4D3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C76CDE-BE19-1275-5518-30355BD96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AB2A7A7-481C-36FF-555C-D06EF970C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0FBBABC-E32E-1F3E-41F1-1567B7FA50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54E21FC-6DAB-B55E-5274-C32EB6974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A531629-AEFF-C8F0-6055-42E4056A0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A655FF0-1197-FE86-E46D-AE41A56A2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5214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A5B39B-A6CA-9F11-88DB-4711A870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3ABE57C-F160-9F06-0147-09712B13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C7AEB2-4A0B-A516-9473-39FE4B3C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A7ADB4-0FA9-0896-D6B9-151595622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4262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D99FCC9-4BCA-CB51-ECF1-A0426EFF1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ED8C4F-FF51-92C4-B0AE-E65D97ED3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B4199F-F3C3-6957-0C35-DF3CDD4F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26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1ECA14-151B-5540-9BCB-30245DF70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B59285-962E-2C14-DE29-A196CBDAC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35C87DC-6E37-1B2C-AA31-2EFB85863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8277B-9C10-25F9-7199-77AADC43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81CBD3-9096-C811-1A72-45ACEBF2B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27FA425-F886-36AD-7D09-4696F31A1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222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3158B-D963-16AC-8079-527E081C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5B56D3D-6A23-D2C4-ACBC-299E568B3A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1E6EF9F-0AB6-B1AC-0069-A8ED25AFD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60DE0C-558C-B928-1964-9ADE51A37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889EA0-46A6-5E80-358D-D82B3382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285EAA-E5EA-6D6A-C788-351D05CA5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187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B7089A-77BD-FFBA-9F80-B1F92803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0CAA71-5293-8526-4920-5E77EC7CB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2D95A6-4A6A-C693-DCA3-46C1EA85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E6ED4B-6255-8208-6BB0-D95C1DAB2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3F7D52-1427-569C-74C3-E69E75BA1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818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EFC1A0A-442E-AA92-B9BA-048B10F93C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88178D3-F954-7CEA-8168-4D66C1F43A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C52E9-7EF8-7476-21B4-6B1FDFD7F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07E231-969E-D013-3CD8-49AF6D0FD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15C95-A67E-65F8-5437-12E46E521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0662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4E01C76-F345-F415-32F8-333BB8FF8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1FD491-E74F-ABDA-0591-0CB694802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26730F-D84B-DC0D-F377-17D3EDDF6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9AD2AC-8759-48B1-92A9-49D72AD4ADDB}" type="datetimeFigureOut">
              <a:rPr lang="ko-KR" altLang="en-US" smtClean="0"/>
              <a:t>2026-01-22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04922E-EED8-06B6-9911-E9E2D18982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78A02-3CAA-2222-36ED-DDA65B289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A60F3C-3312-4D78-A939-5BCE20281FE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2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이모티콘 불 PNG 이미지 | PNGWing">
            <a:extLst>
              <a:ext uri="{FF2B5EF4-FFF2-40B4-BE49-F238E27FC236}">
                <a16:creationId xmlns:a16="http://schemas.microsoft.com/office/drawing/2014/main" id="{0ABFDA45-B3DF-C586-9A6B-D1DC560F8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556" b="93889" l="10000" r="90000">
                        <a14:foregroundMark x1="40278" y1="91389" x2="57778" y2="93889"/>
                        <a14:foregroundMark x1="80833" y1="28889" x2="80833" y2="28889"/>
                        <a14:foregroundMark x1="56944" y1="8889" x2="56944" y2="8889"/>
                        <a14:foregroundMark x1="38333" y1="15278" x2="38333" y2="15278"/>
                        <a14:foregroundMark x1="56389" y1="5556" x2="56389" y2="5556"/>
                        <a14:foregroundMark x1="14167" y1="25833" x2="14167" y2="2583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54126" y="1096973"/>
            <a:ext cx="3119692" cy="3119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1B062DD7-D6C7-2626-A852-5F5FAFE26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21235"/>
            <a:ext cx="9144000" cy="2387600"/>
          </a:xfrm>
        </p:spPr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조 방화광</a:t>
            </a:r>
            <a:br>
              <a:rPr lang="en-US" altLang="ko-KR" dirty="0"/>
            </a:br>
            <a:r>
              <a:rPr lang="ko-KR" altLang="en-US" dirty="0"/>
              <a:t>최종발표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E3C57E-A42D-CBC3-1B8B-082ED1F65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6665"/>
            <a:ext cx="9144000" cy="1655762"/>
          </a:xfrm>
        </p:spPr>
        <p:txBody>
          <a:bodyPr/>
          <a:lstStyle/>
          <a:p>
            <a:r>
              <a:rPr lang="ko-KR" altLang="en-US" dirty="0"/>
              <a:t>조장</a:t>
            </a:r>
            <a:r>
              <a:rPr lang="en-US" altLang="ko-KR" dirty="0"/>
              <a:t>:</a:t>
            </a:r>
            <a:r>
              <a:rPr lang="ko-KR" altLang="en-US" dirty="0" err="1"/>
              <a:t>김대명</a:t>
            </a:r>
            <a:endParaRPr lang="en-US" altLang="ko-KR" dirty="0"/>
          </a:p>
          <a:p>
            <a:r>
              <a:rPr lang="ko-KR" altLang="en-US" dirty="0"/>
              <a:t>고리환</a:t>
            </a:r>
            <a:r>
              <a:rPr lang="en-US" altLang="ko-KR" dirty="0"/>
              <a:t>,</a:t>
            </a:r>
            <a:r>
              <a:rPr lang="ko-KR" altLang="en-US" dirty="0" err="1"/>
              <a:t>문창희</a:t>
            </a:r>
            <a:r>
              <a:rPr lang="en-US" altLang="ko-KR" dirty="0"/>
              <a:t>,</a:t>
            </a:r>
            <a:r>
              <a:rPr lang="ko-KR" altLang="en-US" dirty="0" err="1"/>
              <a:t>박근범</a:t>
            </a:r>
            <a:r>
              <a:rPr lang="en-US" altLang="ko-KR" dirty="0"/>
              <a:t>,</a:t>
            </a:r>
            <a:r>
              <a:rPr lang="ko-KR" altLang="en-US" dirty="0"/>
              <a:t>정용철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257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7C5F26-18BB-93ED-A51B-719B23B7C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 err="1"/>
              <a:t>라즈베리파이</a:t>
            </a:r>
            <a:r>
              <a:rPr lang="ko-KR" altLang="en-US" dirty="0"/>
              <a:t> 기반 자동 소방 차량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5EFC50F-0BF1-5A07-4F15-E23EEDDC2C2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8300" y="2645858"/>
            <a:ext cx="2655399" cy="1732539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44B7E5-912E-9221-8259-062DD0F1CAB8}"/>
              </a:ext>
            </a:extLst>
          </p:cNvPr>
          <p:cNvSpPr txBox="1"/>
          <p:nvPr/>
        </p:nvSpPr>
        <p:spPr>
          <a:xfrm>
            <a:off x="1399310" y="2322692"/>
            <a:ext cx="1847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줄어드는 인력 대체재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FC0B33-D051-CEB3-E677-3CAA51D84211}"/>
              </a:ext>
            </a:extLst>
          </p:cNvPr>
          <p:cNvSpPr txBox="1"/>
          <p:nvPr/>
        </p:nvSpPr>
        <p:spPr>
          <a:xfrm>
            <a:off x="674255" y="3888978"/>
            <a:ext cx="2115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빠른 대응을 위한 새로운 감시 체계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11AC7-A187-1657-0FB7-8B37F24A5FA1}"/>
              </a:ext>
            </a:extLst>
          </p:cNvPr>
          <p:cNvSpPr txBox="1"/>
          <p:nvPr/>
        </p:nvSpPr>
        <p:spPr>
          <a:xfrm>
            <a:off x="2921000" y="5587939"/>
            <a:ext cx="3655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고위험 환경 진입 최소화를 통한</a:t>
            </a:r>
            <a:r>
              <a:rPr lang="en-US" altLang="ko-KR" dirty="0"/>
              <a:t> </a:t>
            </a:r>
            <a:r>
              <a:rPr lang="ko-KR" altLang="en-US" dirty="0"/>
              <a:t>인명 위험 감소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715C42-E506-E1AC-644B-7F45A6D08AA2}"/>
              </a:ext>
            </a:extLst>
          </p:cNvPr>
          <p:cNvSpPr txBox="1"/>
          <p:nvPr/>
        </p:nvSpPr>
        <p:spPr>
          <a:xfrm>
            <a:off x="8728363" y="2420500"/>
            <a:ext cx="281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스마트 소방 시스템 구축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D96808-E150-55F3-D2BC-3A15623249F9}"/>
              </a:ext>
            </a:extLst>
          </p:cNvPr>
          <p:cNvSpPr txBox="1"/>
          <p:nvPr/>
        </p:nvSpPr>
        <p:spPr>
          <a:xfrm>
            <a:off x="8536709" y="4962098"/>
            <a:ext cx="2817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AI </a:t>
            </a:r>
            <a:r>
              <a:rPr lang="ko-KR" altLang="en-US" dirty="0"/>
              <a:t>확장성에 발맞춘 변화</a:t>
            </a:r>
          </a:p>
        </p:txBody>
      </p:sp>
      <p:cxnSp>
        <p:nvCxnSpPr>
          <p:cNvPr id="13" name="연결선: 구부러짐 12">
            <a:extLst>
              <a:ext uri="{FF2B5EF4-FFF2-40B4-BE49-F238E27FC236}">
                <a16:creationId xmlns:a16="http://schemas.microsoft.com/office/drawing/2014/main" id="{41CA8658-A386-5263-EA3B-06D936D12A14}"/>
              </a:ext>
            </a:extLst>
          </p:cNvPr>
          <p:cNvCxnSpPr>
            <a:cxnSpLocks/>
          </p:cNvCxnSpPr>
          <p:nvPr/>
        </p:nvCxnSpPr>
        <p:spPr>
          <a:xfrm rot="10800000">
            <a:off x="3420946" y="2682870"/>
            <a:ext cx="1251527" cy="52221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EA963C68-AB2D-0869-C9DE-22CE1542580C}"/>
              </a:ext>
            </a:extLst>
          </p:cNvPr>
          <p:cNvCxnSpPr/>
          <p:nvPr/>
        </p:nvCxnSpPr>
        <p:spPr>
          <a:xfrm rot="10800000" flipV="1">
            <a:off x="2921000" y="3888977"/>
            <a:ext cx="1577110" cy="323165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CC6A20AA-512E-EC7B-0BC8-DE1264019F94}"/>
              </a:ext>
            </a:extLst>
          </p:cNvPr>
          <p:cNvCxnSpPr>
            <a:cxnSpLocks/>
          </p:cNvCxnSpPr>
          <p:nvPr/>
        </p:nvCxnSpPr>
        <p:spPr>
          <a:xfrm rot="5400000">
            <a:off x="4990178" y="4590110"/>
            <a:ext cx="828627" cy="570734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8CE5FBC3-305D-8AAD-0F55-89A6E38E0B31}"/>
              </a:ext>
            </a:extLst>
          </p:cNvPr>
          <p:cNvCxnSpPr>
            <a:cxnSpLocks/>
          </p:cNvCxnSpPr>
          <p:nvPr/>
        </p:nvCxnSpPr>
        <p:spPr>
          <a:xfrm flipV="1">
            <a:off x="7536873" y="2697499"/>
            <a:ext cx="999836" cy="317690"/>
          </a:xfrm>
          <a:prstGeom prst="curvedConnector3">
            <a:avLst>
              <a:gd name="adj1" fmla="val 4722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5C1DE0FB-F7AF-6EEA-368F-D1D8245D7E5E}"/>
              </a:ext>
            </a:extLst>
          </p:cNvPr>
          <p:cNvCxnSpPr>
            <a:cxnSpLocks/>
          </p:cNvCxnSpPr>
          <p:nvPr/>
        </p:nvCxnSpPr>
        <p:spPr>
          <a:xfrm>
            <a:off x="7269017" y="4281362"/>
            <a:ext cx="979056" cy="680736"/>
          </a:xfrm>
          <a:prstGeom prst="curvedConnector3">
            <a:avLst>
              <a:gd name="adj1" fmla="val 4622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9369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E7B0BD-D708-3A85-5CB0-E77E80447C79}"/>
              </a:ext>
            </a:extLst>
          </p:cNvPr>
          <p:cNvSpPr txBox="1"/>
          <p:nvPr/>
        </p:nvSpPr>
        <p:spPr>
          <a:xfrm>
            <a:off x="452582" y="434109"/>
            <a:ext cx="10714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“</a:t>
            </a:r>
            <a:r>
              <a:rPr lang="ko-KR" altLang="en-US" sz="4000" dirty="0"/>
              <a:t>자동감지</a:t>
            </a:r>
            <a:r>
              <a:rPr lang="ko-KR" altLang="en-US" sz="2400" dirty="0"/>
              <a:t>를 하고</a:t>
            </a:r>
            <a:r>
              <a:rPr lang="en-US" altLang="ko-KR" sz="2400" dirty="0"/>
              <a:t>, </a:t>
            </a:r>
            <a:r>
              <a:rPr lang="ko-KR" altLang="en-US" sz="4000" dirty="0"/>
              <a:t>자동주행</a:t>
            </a:r>
            <a:r>
              <a:rPr lang="ko-KR" altLang="en-US" sz="2400" dirty="0"/>
              <a:t>을 하여</a:t>
            </a:r>
            <a:r>
              <a:rPr lang="en-US" altLang="ko-KR" sz="2400" dirty="0"/>
              <a:t>, </a:t>
            </a:r>
            <a:r>
              <a:rPr lang="ko-KR" altLang="en-US" sz="2400" dirty="0"/>
              <a:t>화재를 </a:t>
            </a:r>
            <a:r>
              <a:rPr lang="ko-KR" altLang="en-US" sz="4000" dirty="0"/>
              <a:t>자동진압</a:t>
            </a:r>
            <a:r>
              <a:rPr lang="ko-KR" altLang="en-US" sz="2400" dirty="0"/>
              <a:t>하자</a:t>
            </a:r>
            <a:r>
              <a:rPr lang="en-US" altLang="ko-KR" sz="2400" dirty="0"/>
              <a:t>”</a:t>
            </a:r>
            <a:endParaRPr lang="ko-KR" altLang="en-US" sz="2400" dirty="0"/>
          </a:p>
        </p:txBody>
      </p:sp>
      <p:pic>
        <p:nvPicPr>
          <p:cNvPr id="6" name="그림 5" descr="전자제품, 회로, 전자 공학, 전자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A5E2D1-17FE-4942-F196-A630AFE0605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86375" y="2802146"/>
            <a:ext cx="1619250" cy="1619250"/>
          </a:xfrm>
          <a:prstGeom prst="rect">
            <a:avLst/>
          </a:prstGeom>
        </p:spPr>
      </p:pic>
      <p:pic>
        <p:nvPicPr>
          <p:cNvPr id="9" name="그림 8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9E8585-C02E-F601-1AC7-EFA26C59A34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56643" y="2061258"/>
            <a:ext cx="1190624" cy="1190624"/>
          </a:xfrm>
          <a:prstGeom prst="rect">
            <a:avLst/>
          </a:prstGeom>
        </p:spPr>
      </p:pic>
      <p:pic>
        <p:nvPicPr>
          <p:cNvPr id="11" name="그림 10" descr="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C14E115-8F13-F839-D54A-4BD2B705517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95384" y="3978484"/>
            <a:ext cx="1190625" cy="1190625"/>
          </a:xfrm>
          <a:prstGeom prst="rect">
            <a:avLst/>
          </a:prstGeom>
        </p:spPr>
      </p:pic>
      <p:pic>
        <p:nvPicPr>
          <p:cNvPr id="13" name="그림 12" descr="원, 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FF42F4-F9DF-80D5-74A0-DC2A0018E9A9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47267" y="5221073"/>
            <a:ext cx="1533525" cy="1533525"/>
          </a:xfrm>
          <a:prstGeom prst="rect">
            <a:avLst/>
          </a:prstGeom>
        </p:spPr>
      </p:pic>
      <p:pic>
        <p:nvPicPr>
          <p:cNvPr id="15" name="그림 14" descr="일러스트레이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48784C-56A8-2C8B-3857-5B23C0C1CB38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11508" y="1178964"/>
            <a:ext cx="1417711" cy="141771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8623CFF-F01D-F2DD-C22D-11C5703EFA5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71437" y="4562893"/>
            <a:ext cx="1316360" cy="1316360"/>
          </a:xfrm>
          <a:prstGeom prst="rect">
            <a:avLst/>
          </a:prstGeom>
        </p:spPr>
      </p:pic>
      <p:pic>
        <p:nvPicPr>
          <p:cNvPr id="19" name="그림 18" descr="원, 턴테이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C28D86-686D-086F-2786-2172FCC60290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5350416"/>
            <a:ext cx="1274837" cy="1274837"/>
          </a:xfrm>
          <a:prstGeom prst="rect">
            <a:avLst/>
          </a:prstGeom>
        </p:spPr>
      </p:pic>
      <p:pic>
        <p:nvPicPr>
          <p:cNvPr id="21" name="그림 20" descr="전자제품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B40FB7-BFCE-F966-2DA1-DB2B4B67A078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36710" y="1341152"/>
            <a:ext cx="944082" cy="1085694"/>
          </a:xfrm>
          <a:prstGeom prst="rect">
            <a:avLst/>
          </a:prstGeom>
        </p:spPr>
      </p:pic>
      <p:pic>
        <p:nvPicPr>
          <p:cNvPr id="23" name="그림 22" descr="텍스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651E19-E8D8-4821-EABD-1E61F44F5401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105991" y="2861686"/>
            <a:ext cx="1619250" cy="897316"/>
          </a:xfrm>
          <a:prstGeom prst="rect">
            <a:avLst/>
          </a:prstGeom>
        </p:spPr>
      </p:pic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D8B95072-70A4-DF16-DD38-0BC171BF62CE}"/>
              </a:ext>
            </a:extLst>
          </p:cNvPr>
          <p:cNvCxnSpPr/>
          <p:nvPr/>
        </p:nvCxnSpPr>
        <p:spPr>
          <a:xfrm>
            <a:off x="3324225" y="3008917"/>
            <a:ext cx="1790138" cy="6028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3078E299-868F-FD65-A15F-42256D4B64B9}"/>
              </a:ext>
            </a:extLst>
          </p:cNvPr>
          <p:cNvCxnSpPr>
            <a:cxnSpLocks/>
          </p:cNvCxnSpPr>
          <p:nvPr/>
        </p:nvCxnSpPr>
        <p:spPr>
          <a:xfrm flipV="1">
            <a:off x="3324225" y="3978484"/>
            <a:ext cx="1790138" cy="3752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D3E2DB2-7BFD-032B-3C8E-76DC32D6067A}"/>
              </a:ext>
            </a:extLst>
          </p:cNvPr>
          <p:cNvCxnSpPr>
            <a:cxnSpLocks/>
          </p:cNvCxnSpPr>
          <p:nvPr/>
        </p:nvCxnSpPr>
        <p:spPr>
          <a:xfrm flipV="1">
            <a:off x="4535055" y="4328241"/>
            <a:ext cx="973771" cy="11504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5B1BC78-8DBE-CF12-65D2-2B43FCBA0126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6468277" y="4328241"/>
            <a:ext cx="265142" cy="102217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95315F9-9506-8618-6C28-BDCA10F2B5D0}"/>
              </a:ext>
            </a:extLst>
          </p:cNvPr>
          <p:cNvCxnSpPr>
            <a:cxnSpLocks/>
          </p:cNvCxnSpPr>
          <p:nvPr/>
        </p:nvCxnSpPr>
        <p:spPr>
          <a:xfrm flipH="1" flipV="1">
            <a:off x="6957872" y="4083131"/>
            <a:ext cx="1613565" cy="59970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24599DA-1A8E-BB18-AF31-1DF03B5E211A}"/>
              </a:ext>
            </a:extLst>
          </p:cNvPr>
          <p:cNvCxnSpPr>
            <a:cxnSpLocks/>
          </p:cNvCxnSpPr>
          <p:nvPr/>
        </p:nvCxnSpPr>
        <p:spPr>
          <a:xfrm flipH="1">
            <a:off x="7188269" y="3429000"/>
            <a:ext cx="1600279" cy="1477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33D9F4E7-D789-81BA-B0AC-615A625F2E4C}"/>
              </a:ext>
            </a:extLst>
          </p:cNvPr>
          <p:cNvCxnSpPr>
            <a:cxnSpLocks/>
          </p:cNvCxnSpPr>
          <p:nvPr/>
        </p:nvCxnSpPr>
        <p:spPr>
          <a:xfrm flipH="1">
            <a:off x="6706507" y="2499980"/>
            <a:ext cx="785210" cy="6030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500D9C7-53A7-3A8C-FAFD-116C950EEEFC}"/>
              </a:ext>
            </a:extLst>
          </p:cNvPr>
          <p:cNvCxnSpPr>
            <a:cxnSpLocks/>
          </p:cNvCxnSpPr>
          <p:nvPr/>
        </p:nvCxnSpPr>
        <p:spPr>
          <a:xfrm>
            <a:off x="4700283" y="2411573"/>
            <a:ext cx="785212" cy="63789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90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44C3-69EB-E61C-C607-7CD1DEEA8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9CCCD3-A5D1-7274-453E-4C7943E06576}"/>
              </a:ext>
            </a:extLst>
          </p:cNvPr>
          <p:cNvSpPr txBox="1"/>
          <p:nvPr/>
        </p:nvSpPr>
        <p:spPr>
          <a:xfrm>
            <a:off x="452582" y="434109"/>
            <a:ext cx="107141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“</a:t>
            </a:r>
            <a:r>
              <a:rPr lang="ko-KR" altLang="en-US" sz="4000" dirty="0"/>
              <a:t>자동감지</a:t>
            </a:r>
            <a:r>
              <a:rPr lang="ko-KR" altLang="en-US" sz="2400" dirty="0"/>
              <a:t>를 하고</a:t>
            </a:r>
            <a:r>
              <a:rPr lang="en-US" altLang="ko-KR" sz="2400" dirty="0"/>
              <a:t>, </a:t>
            </a:r>
            <a:r>
              <a:rPr lang="ko-KR" altLang="en-US" sz="4000" dirty="0"/>
              <a:t>자동주행</a:t>
            </a:r>
            <a:r>
              <a:rPr lang="ko-KR" altLang="en-US" sz="2400" dirty="0"/>
              <a:t>을 하여</a:t>
            </a:r>
            <a:r>
              <a:rPr lang="en-US" altLang="ko-KR" sz="2400" dirty="0"/>
              <a:t>, </a:t>
            </a:r>
            <a:r>
              <a:rPr lang="ko-KR" altLang="en-US" sz="2400" dirty="0"/>
              <a:t>화재를 </a:t>
            </a:r>
            <a:r>
              <a:rPr lang="ko-KR" altLang="en-US" sz="4000" dirty="0"/>
              <a:t>자동진압</a:t>
            </a:r>
            <a:r>
              <a:rPr lang="ko-KR" altLang="en-US" sz="2400" dirty="0"/>
              <a:t>하자</a:t>
            </a:r>
            <a:r>
              <a:rPr lang="en-US" altLang="ko-KR" sz="2400" dirty="0"/>
              <a:t>”</a:t>
            </a:r>
            <a:endParaRPr lang="ko-KR" altLang="en-US" sz="2400" dirty="0"/>
          </a:p>
        </p:txBody>
      </p:sp>
      <p:pic>
        <p:nvPicPr>
          <p:cNvPr id="2050" name="Picture 2" descr="이모티콘 파일 폴더 디렉토리 컴퓨터 아이콘, 이모티콘, 파랑, 각, 직사각형 png | PNGWing">
            <a:extLst>
              <a:ext uri="{FF2B5EF4-FFF2-40B4-BE49-F238E27FC236}">
                <a16:creationId xmlns:a16="http://schemas.microsoft.com/office/drawing/2014/main" id="{0884D25A-FADC-EE6F-D455-D07B2E63C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94" b="91211" l="10000" r="90000">
                        <a14:foregroundMark x1="40326" y1="10742" x2="27935" y2="8789"/>
                        <a14:foregroundMark x1="22935" y1="78516" x2="25435" y2="88672"/>
                        <a14:foregroundMark x1="25435" y1="88672" x2="33261" y2="91211"/>
                        <a14:foregroundMark x1="33261" y1="91211" x2="45978" y2="892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814" y="1269549"/>
            <a:ext cx="1776844" cy="9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76C225-F2CC-7F05-D463-57338412C80B}"/>
              </a:ext>
            </a:extLst>
          </p:cNvPr>
          <p:cNvSpPr txBox="1"/>
          <p:nvPr/>
        </p:nvSpPr>
        <p:spPr>
          <a:xfrm>
            <a:off x="554181" y="2201289"/>
            <a:ext cx="942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방화광</a:t>
            </a:r>
          </a:p>
        </p:txBody>
      </p:sp>
      <p:pic>
        <p:nvPicPr>
          <p:cNvPr id="7" name="그림 6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CEDCBB5-9A7C-9517-BFB7-4914C5EC036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276" y="2647212"/>
            <a:ext cx="1018430" cy="1018430"/>
          </a:xfrm>
          <a:prstGeom prst="rect">
            <a:avLst/>
          </a:prstGeom>
        </p:spPr>
      </p:pic>
      <p:pic>
        <p:nvPicPr>
          <p:cNvPr id="8" name="그림 7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B90617-C550-27A1-D31E-A3440742BAF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9213" y="3991395"/>
            <a:ext cx="1018430" cy="1018430"/>
          </a:xfrm>
          <a:prstGeom prst="rect">
            <a:avLst/>
          </a:prstGeom>
        </p:spPr>
      </p:pic>
      <p:pic>
        <p:nvPicPr>
          <p:cNvPr id="9" name="그림 8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06D4ED2-C623-6EA4-2BDB-F470A6900C0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0520" y="2647212"/>
            <a:ext cx="1018430" cy="1018430"/>
          </a:xfrm>
          <a:prstGeom prst="rect">
            <a:avLst/>
          </a:prstGeom>
        </p:spPr>
      </p:pic>
      <p:pic>
        <p:nvPicPr>
          <p:cNvPr id="10" name="그림 9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9585C7-ABEA-E372-1CCB-2696BCB4210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4983" y="1167986"/>
            <a:ext cx="1303910" cy="1303910"/>
          </a:xfrm>
          <a:prstGeom prst="rect">
            <a:avLst/>
          </a:prstGeom>
        </p:spPr>
      </p:pic>
      <p:pic>
        <p:nvPicPr>
          <p:cNvPr id="11" name="그림 10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9227E0-14AF-E026-F376-ADC75D3A9B2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0276" y="3991395"/>
            <a:ext cx="1018430" cy="1018430"/>
          </a:xfrm>
          <a:prstGeom prst="rect">
            <a:avLst/>
          </a:prstGeom>
        </p:spPr>
      </p:pic>
      <p:pic>
        <p:nvPicPr>
          <p:cNvPr id="12" name="그림 11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621722-08B2-B91B-7C87-9623F0BE317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9213" y="5330070"/>
            <a:ext cx="1018430" cy="1018430"/>
          </a:xfrm>
          <a:prstGeom prst="rect">
            <a:avLst/>
          </a:prstGeom>
        </p:spPr>
      </p:pic>
      <p:pic>
        <p:nvPicPr>
          <p:cNvPr id="13" name="그림 12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B281E-170F-3E36-FDC1-13D6174DE55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1287" y="5330070"/>
            <a:ext cx="1018430" cy="1018430"/>
          </a:xfrm>
          <a:prstGeom prst="rect">
            <a:avLst/>
          </a:prstGeom>
        </p:spPr>
      </p:pic>
      <p:pic>
        <p:nvPicPr>
          <p:cNvPr id="19" name="그림 18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63BE9C0-E1A8-ABB5-EEF9-520020DFF75C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1095" y="2642362"/>
            <a:ext cx="1018430" cy="1018430"/>
          </a:xfrm>
          <a:prstGeom prst="rect">
            <a:avLst/>
          </a:prstGeom>
        </p:spPr>
      </p:pic>
      <p:pic>
        <p:nvPicPr>
          <p:cNvPr id="20" name="그림 19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970548-6AA2-55A6-7F0F-F51DE74DB3C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032" y="3986545"/>
            <a:ext cx="1018430" cy="1018430"/>
          </a:xfrm>
          <a:prstGeom prst="rect">
            <a:avLst/>
          </a:prstGeom>
        </p:spPr>
      </p:pic>
      <p:pic>
        <p:nvPicPr>
          <p:cNvPr id="21" name="그림 20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9D5392-0206-63AC-710D-7529112FB5EA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1339" y="2642362"/>
            <a:ext cx="1018430" cy="1018430"/>
          </a:xfrm>
          <a:prstGeom prst="rect">
            <a:avLst/>
          </a:prstGeom>
        </p:spPr>
      </p:pic>
      <p:pic>
        <p:nvPicPr>
          <p:cNvPr id="22" name="그림 21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903F90-D102-FEC1-55E8-F349B1A739B1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1095" y="3986545"/>
            <a:ext cx="1018430" cy="1018430"/>
          </a:xfrm>
          <a:prstGeom prst="rect">
            <a:avLst/>
          </a:prstGeom>
        </p:spPr>
      </p:pic>
      <p:pic>
        <p:nvPicPr>
          <p:cNvPr id="23" name="그림 22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6AE4CF8-8C5C-BFA9-0C0B-617931B9AF9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70032" y="5325220"/>
            <a:ext cx="1018430" cy="1018430"/>
          </a:xfrm>
          <a:prstGeom prst="rect">
            <a:avLst/>
          </a:prstGeom>
        </p:spPr>
      </p:pic>
      <p:pic>
        <p:nvPicPr>
          <p:cNvPr id="24" name="그림 23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041023-6E30-FDA4-2197-4D09F86F916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82106" y="5325220"/>
            <a:ext cx="1018430" cy="1018430"/>
          </a:xfrm>
          <a:prstGeom prst="rect">
            <a:avLst/>
          </a:prstGeom>
        </p:spPr>
      </p:pic>
      <p:pic>
        <p:nvPicPr>
          <p:cNvPr id="29" name="그림 28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6D61CD-7F31-B2D7-2180-A102F814747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0851" y="5325220"/>
            <a:ext cx="1018430" cy="101843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B57B8D7-4F6E-2D65-9679-E35D88216C44}"/>
              </a:ext>
            </a:extLst>
          </p:cNvPr>
          <p:cNvSpPr txBox="1"/>
          <p:nvPr/>
        </p:nvSpPr>
        <p:spPr>
          <a:xfrm>
            <a:off x="1995054" y="229216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main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59E220-C8DA-FCAE-DE06-FADDDC800CCE}"/>
              </a:ext>
            </a:extLst>
          </p:cNvPr>
          <p:cNvSpPr txBox="1"/>
          <p:nvPr/>
        </p:nvSpPr>
        <p:spPr>
          <a:xfrm>
            <a:off x="1849213" y="3490819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app_gui</a:t>
            </a:r>
            <a:endParaRPr lang="ko-KR" alt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04BA07-77B9-DBAB-1710-A99151D9DCFD}"/>
              </a:ext>
            </a:extLst>
          </p:cNvPr>
          <p:cNvSpPr txBox="1"/>
          <p:nvPr/>
        </p:nvSpPr>
        <p:spPr>
          <a:xfrm>
            <a:off x="3033095" y="35515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robot_modes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5793D51-DF1E-A935-C918-A4D1DAABCD64}"/>
              </a:ext>
            </a:extLst>
          </p:cNvPr>
          <p:cNvSpPr txBox="1"/>
          <p:nvPr/>
        </p:nvSpPr>
        <p:spPr>
          <a:xfrm>
            <a:off x="4798539" y="355447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motor</a:t>
            </a:r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525717-0E9A-2DE6-2D8B-DD3AF81A818C}"/>
              </a:ext>
            </a:extLst>
          </p:cNvPr>
          <p:cNvSpPr txBox="1"/>
          <p:nvPr/>
        </p:nvSpPr>
        <p:spPr>
          <a:xfrm>
            <a:off x="6125171" y="35212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joystick</a:t>
            </a:r>
            <a:endParaRPr lang="ko-KR" alt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303502-76CF-6FE0-AABE-768E268F7E35}"/>
              </a:ext>
            </a:extLst>
          </p:cNvPr>
          <p:cNvSpPr txBox="1"/>
          <p:nvPr/>
        </p:nvSpPr>
        <p:spPr>
          <a:xfrm>
            <a:off x="1995054" y="4877539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servo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C32214B-B4E9-6856-4E2D-F8C64BAA6359}"/>
              </a:ext>
            </a:extLst>
          </p:cNvPr>
          <p:cNvSpPr txBox="1"/>
          <p:nvPr/>
        </p:nvSpPr>
        <p:spPr>
          <a:xfrm>
            <a:off x="3301275" y="4895631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rgb_led</a:t>
            </a:r>
            <a:endParaRPr lang="ko-KR" alt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C3688DD-B597-B0D4-A66D-F0099DF98495}"/>
              </a:ext>
            </a:extLst>
          </p:cNvPr>
          <p:cNvSpPr txBox="1"/>
          <p:nvPr/>
        </p:nvSpPr>
        <p:spPr>
          <a:xfrm>
            <a:off x="4745715" y="4895631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buzzer</a:t>
            </a:r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A1A90B-A63D-5537-6792-8D1D755B3A12}"/>
              </a:ext>
            </a:extLst>
          </p:cNvPr>
          <p:cNvSpPr txBox="1"/>
          <p:nvPr/>
        </p:nvSpPr>
        <p:spPr>
          <a:xfrm>
            <a:off x="6142181" y="4891429"/>
            <a:ext cx="6109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camera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51A13E-F408-68AB-BFEA-9ED66BDA44FF}"/>
              </a:ext>
            </a:extLst>
          </p:cNvPr>
          <p:cNvSpPr txBox="1"/>
          <p:nvPr/>
        </p:nvSpPr>
        <p:spPr>
          <a:xfrm>
            <a:off x="1851273" y="6269747"/>
            <a:ext cx="1126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detector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FA4527-794A-B26F-05DE-CDF2C178E7C1}"/>
              </a:ext>
            </a:extLst>
          </p:cNvPr>
          <p:cNvSpPr txBox="1"/>
          <p:nvPr/>
        </p:nvSpPr>
        <p:spPr>
          <a:xfrm>
            <a:off x="3049463" y="6266235"/>
            <a:ext cx="176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water_sensor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3409E2-12DF-6383-1AD4-F4E5E6C71369}"/>
              </a:ext>
            </a:extLst>
          </p:cNvPr>
          <p:cNvSpPr txBox="1"/>
          <p:nvPr/>
        </p:nvSpPr>
        <p:spPr>
          <a:xfrm>
            <a:off x="4552628" y="6273259"/>
            <a:ext cx="6123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fire_sensor</a:t>
            </a:r>
            <a:endParaRPr lang="ko-KR" alt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0151AF-D2B3-CD3A-5C96-769C70C4C2D8}"/>
              </a:ext>
            </a:extLst>
          </p:cNvPr>
          <p:cNvSpPr txBox="1"/>
          <p:nvPr/>
        </p:nvSpPr>
        <p:spPr>
          <a:xfrm>
            <a:off x="6096000" y="6266235"/>
            <a:ext cx="6123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pump.py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DE92D1-EC56-30E9-D2EB-392DEB12C59F}"/>
              </a:ext>
            </a:extLst>
          </p:cNvPr>
          <p:cNvSpPr txBox="1"/>
          <p:nvPr/>
        </p:nvSpPr>
        <p:spPr>
          <a:xfrm>
            <a:off x="7375237" y="6287839"/>
            <a:ext cx="14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gas_sensor</a:t>
            </a:r>
            <a:endParaRPr lang="ko-KR" altLang="en-US" dirty="0"/>
          </a:p>
        </p:txBody>
      </p:sp>
      <p:pic>
        <p:nvPicPr>
          <p:cNvPr id="62" name="그림 61" descr="바퀴, 장난감, 타이어, 자동차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6A2B40-195F-3AC5-DF53-17EB2CB527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039082" y="3870572"/>
            <a:ext cx="2792468" cy="2093723"/>
          </a:xfrm>
          <a:prstGeom prst="rect">
            <a:avLst/>
          </a:prstGeom>
        </p:spPr>
      </p:pic>
      <p:pic>
        <p:nvPicPr>
          <p:cNvPr id="2048" name="그림 2047" descr="스크린샷, 상징, 그래픽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59E5AA-72F6-A030-B256-E5E7BCA4509A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93673" y="1465800"/>
            <a:ext cx="1406546" cy="1406546"/>
          </a:xfrm>
          <a:prstGeom prst="rect">
            <a:avLst/>
          </a:prstGeom>
        </p:spPr>
      </p:pic>
      <p:sp>
        <p:nvSpPr>
          <p:cNvPr id="2049" name="TextBox 2048">
            <a:extLst>
              <a:ext uri="{FF2B5EF4-FFF2-40B4-BE49-F238E27FC236}">
                <a16:creationId xmlns:a16="http://schemas.microsoft.com/office/drawing/2014/main" id="{A5FC2D76-9FF6-97D9-3695-2B7A96C8CAEF}"/>
              </a:ext>
            </a:extLst>
          </p:cNvPr>
          <p:cNvSpPr txBox="1"/>
          <p:nvPr/>
        </p:nvSpPr>
        <p:spPr>
          <a:xfrm>
            <a:off x="9918212" y="2679709"/>
            <a:ext cx="846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GUI</a:t>
            </a:r>
            <a:endParaRPr lang="ko-KR" altLang="en-US" dirty="0"/>
          </a:p>
        </p:txBody>
      </p:sp>
      <p:sp>
        <p:nvSpPr>
          <p:cNvPr id="2051" name="화살표: 아래쪽 2050">
            <a:extLst>
              <a:ext uri="{FF2B5EF4-FFF2-40B4-BE49-F238E27FC236}">
                <a16:creationId xmlns:a16="http://schemas.microsoft.com/office/drawing/2014/main" id="{21E662B1-4CF1-CC7A-0357-5E7CAD3DF660}"/>
              </a:ext>
            </a:extLst>
          </p:cNvPr>
          <p:cNvSpPr/>
          <p:nvPr/>
        </p:nvSpPr>
        <p:spPr>
          <a:xfrm>
            <a:off x="10039350" y="3151577"/>
            <a:ext cx="302130" cy="546323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52" name="TextBox 2051">
            <a:extLst>
              <a:ext uri="{FF2B5EF4-FFF2-40B4-BE49-F238E27FC236}">
                <a16:creationId xmlns:a16="http://schemas.microsoft.com/office/drawing/2014/main" id="{8A53811D-B8D4-4424-D0B9-AB866E5B57C6}"/>
              </a:ext>
            </a:extLst>
          </p:cNvPr>
          <p:cNvSpPr txBox="1"/>
          <p:nvPr/>
        </p:nvSpPr>
        <p:spPr>
          <a:xfrm>
            <a:off x="7948360" y="3122764"/>
            <a:ext cx="2792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수동</a:t>
            </a:r>
            <a:r>
              <a:rPr lang="en-US" altLang="ko-KR" dirty="0"/>
              <a:t>/</a:t>
            </a:r>
            <a:r>
              <a:rPr lang="ko-KR" altLang="en-US" dirty="0"/>
              <a:t>자동 전환</a:t>
            </a:r>
            <a:endParaRPr lang="en-US" altLang="ko-KR" dirty="0"/>
          </a:p>
          <a:p>
            <a:r>
              <a:rPr lang="ko-KR" altLang="en-US" dirty="0"/>
              <a:t>실시간 상태 감지</a:t>
            </a:r>
          </a:p>
        </p:txBody>
      </p:sp>
    </p:spTree>
    <p:extLst>
      <p:ext uri="{BB962C8B-B14F-4D97-AF65-F5344CB8AC3E}">
        <p14:creationId xmlns:p14="http://schemas.microsoft.com/office/powerpoint/2010/main" val="4180643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5B37D0-58A2-B030-3DF3-FA9100E7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자율주행의 어려움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F1FC51-6B60-A43B-705F-63870F4CE713}"/>
              </a:ext>
            </a:extLst>
          </p:cNvPr>
          <p:cNvSpPr txBox="1"/>
          <p:nvPr/>
        </p:nvSpPr>
        <p:spPr>
          <a:xfrm>
            <a:off x="748144" y="1974934"/>
            <a:ext cx="840509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dirty="0"/>
              <a:t>1.</a:t>
            </a:r>
            <a:r>
              <a:rPr lang="ko-KR" altLang="en-US" sz="3600" dirty="0"/>
              <a:t>바퀴 모터 불량</a:t>
            </a:r>
            <a:endParaRPr lang="en-US" altLang="ko-KR" sz="3600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한쪽 바퀴의 출력 불량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추석기간 배송이슈로 인한 지연</a:t>
            </a:r>
            <a:r>
              <a:rPr lang="en-US" altLang="ko-KR" dirty="0"/>
              <a:t>+</a:t>
            </a:r>
            <a:r>
              <a:rPr lang="ko-KR" altLang="en-US" dirty="0"/>
              <a:t>해외배송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F5954F-E1AA-2E59-6804-CDF4D58AFBBE}"/>
              </a:ext>
            </a:extLst>
          </p:cNvPr>
          <p:cNvSpPr txBox="1"/>
          <p:nvPr/>
        </p:nvSpPr>
        <p:spPr>
          <a:xfrm>
            <a:off x="838200" y="429050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600" dirty="0"/>
              <a:t>2.</a:t>
            </a:r>
            <a:r>
              <a:rPr lang="ko-KR" altLang="en-US" sz="3600" dirty="0"/>
              <a:t>라즈베리</a:t>
            </a:r>
            <a:r>
              <a:rPr lang="en-US" altLang="ko-KR" sz="3600" dirty="0"/>
              <a:t>5</a:t>
            </a:r>
            <a:r>
              <a:rPr lang="ko-KR" altLang="en-US" sz="3600" dirty="0"/>
              <a:t>의 한계</a:t>
            </a:r>
            <a:endParaRPr lang="en-US" altLang="ko-KR" sz="3600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카메라각의 한계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실시간 연산능력 부족</a:t>
            </a:r>
            <a:r>
              <a:rPr lang="en-US" altLang="ko-KR" dirty="0"/>
              <a:t>(+</a:t>
            </a:r>
            <a:r>
              <a:rPr lang="ko-KR" altLang="en-US" dirty="0"/>
              <a:t>불꽃인식</a:t>
            </a:r>
            <a:r>
              <a:rPr lang="en-US" altLang="ko-KR" dirty="0"/>
              <a:t>)</a:t>
            </a:r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F15B7C2-27E9-08F3-777C-851A5257FA8C}"/>
              </a:ext>
            </a:extLst>
          </p:cNvPr>
          <p:cNvSpPr/>
          <p:nvPr/>
        </p:nvSpPr>
        <p:spPr>
          <a:xfrm>
            <a:off x="5694218" y="3586004"/>
            <a:ext cx="988291" cy="84050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6FAA40-00AA-DFD2-53DA-61BBC73C4B45}"/>
              </a:ext>
            </a:extLst>
          </p:cNvPr>
          <p:cNvSpPr txBox="1"/>
          <p:nvPr/>
        </p:nvSpPr>
        <p:spPr>
          <a:xfrm>
            <a:off x="7416799" y="1974934"/>
            <a:ext cx="34728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u="sng" dirty="0"/>
              <a:t>해결을 위한 대체안</a:t>
            </a:r>
            <a:r>
              <a:rPr lang="ko-KR" altLang="en-US" dirty="0"/>
              <a:t>이 있으나</a:t>
            </a:r>
            <a:endParaRPr lang="en-US" altLang="ko-KR" dirty="0"/>
          </a:p>
          <a:p>
            <a:r>
              <a:rPr lang="en-US" altLang="ko-KR" dirty="0"/>
              <a:t>(</a:t>
            </a:r>
            <a:r>
              <a:rPr lang="ko-KR" altLang="en-US" dirty="0" err="1"/>
              <a:t>재배송</a:t>
            </a:r>
            <a:r>
              <a:rPr lang="en-US" altLang="ko-KR" dirty="0"/>
              <a:t>,</a:t>
            </a:r>
            <a:r>
              <a:rPr lang="en-US" altLang="ko-KR" dirty="0" err="1"/>
              <a:t>gpu</a:t>
            </a:r>
            <a:r>
              <a:rPr lang="ko-KR" altLang="en-US" dirty="0"/>
              <a:t>구매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현실적으로</a:t>
            </a:r>
            <a:endParaRPr lang="en-US" altLang="ko-KR" dirty="0"/>
          </a:p>
          <a:p>
            <a:r>
              <a:rPr lang="ko-KR" altLang="en-US" dirty="0"/>
              <a:t>물리적 시간과 금전적 어려움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5F4A5-61D7-087A-66F5-C90FBEC9C36A}"/>
              </a:ext>
            </a:extLst>
          </p:cNvPr>
          <p:cNvSpPr txBox="1"/>
          <p:nvPr/>
        </p:nvSpPr>
        <p:spPr>
          <a:xfrm>
            <a:off x="7619999" y="5488694"/>
            <a:ext cx="32696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주율주행기능</a:t>
            </a:r>
            <a:r>
              <a:rPr lang="ko-KR" altLang="en-US" b="1" dirty="0"/>
              <a:t> 포기</a:t>
            </a:r>
          </a:p>
        </p:txBody>
      </p:sp>
      <p:pic>
        <p:nvPicPr>
          <p:cNvPr id="11" name="그림 10" descr="바퀴, 자동차 부품, 타이어, 장난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CB7216-6815-6626-63A6-42ED656F479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266706" y="3515828"/>
            <a:ext cx="2754747" cy="190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B00FED-625A-00AC-3800-AF41F5F32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시행</a:t>
            </a:r>
            <a:r>
              <a:rPr lang="en-US" altLang="ko-KR" dirty="0"/>
              <a:t>, </a:t>
            </a:r>
            <a:r>
              <a:rPr lang="ko-KR" altLang="en-US" dirty="0"/>
              <a:t>첫 실패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93F9E6-DEF6-1971-2D1C-54F73F9E5D86}"/>
              </a:ext>
            </a:extLst>
          </p:cNvPr>
          <p:cNvSpPr txBox="1"/>
          <p:nvPr/>
        </p:nvSpPr>
        <p:spPr>
          <a:xfrm>
            <a:off x="988291" y="1886385"/>
            <a:ext cx="40732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차체 조립 및 주행관련 완성</a:t>
            </a:r>
            <a:endParaRPr lang="en-US" altLang="ko-KR" sz="2400" dirty="0"/>
          </a:p>
          <a:p>
            <a:pPr algn="ctr"/>
            <a:r>
              <a:rPr lang="ko-KR" altLang="en-US" sz="2400" b="1" dirty="0"/>
              <a:t>코딩파일</a:t>
            </a:r>
          </a:p>
        </p:txBody>
      </p:sp>
      <p:sp>
        <p:nvSpPr>
          <p:cNvPr id="5" name="설명선: 아래쪽 화살표 4">
            <a:extLst>
              <a:ext uri="{FF2B5EF4-FFF2-40B4-BE49-F238E27FC236}">
                <a16:creationId xmlns:a16="http://schemas.microsoft.com/office/drawing/2014/main" id="{9F72BA7F-742B-D8F7-2C90-1EB949C173AF}"/>
              </a:ext>
            </a:extLst>
          </p:cNvPr>
          <p:cNvSpPr/>
          <p:nvPr/>
        </p:nvSpPr>
        <p:spPr>
          <a:xfrm>
            <a:off x="5384798" y="2020855"/>
            <a:ext cx="1366983" cy="1180088"/>
          </a:xfrm>
          <a:prstGeom prst="downArrowCallout">
            <a:avLst>
              <a:gd name="adj1" fmla="val 15476"/>
              <a:gd name="adj2" fmla="val 23810"/>
              <a:gd name="adj3" fmla="val 25000"/>
              <a:gd name="adj4" fmla="val 1290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4EC495-5BF9-DB4D-3417-2EE6F5E87549}"/>
              </a:ext>
            </a:extLst>
          </p:cNvPr>
          <p:cNvSpPr txBox="1"/>
          <p:nvPr/>
        </p:nvSpPr>
        <p:spPr>
          <a:xfrm>
            <a:off x="7130472" y="1900857"/>
            <a:ext cx="46366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 err="1"/>
              <a:t>모든센서</a:t>
            </a:r>
            <a:r>
              <a:rPr lang="ko-KR" altLang="en-US" sz="2400" dirty="0"/>
              <a:t> 작동확인 및 </a:t>
            </a:r>
            <a:r>
              <a:rPr lang="en-US" altLang="ko-KR" sz="2400" dirty="0"/>
              <a:t>GUI </a:t>
            </a:r>
            <a:r>
              <a:rPr lang="ko-KR" altLang="en-US" sz="2400" dirty="0"/>
              <a:t>통합</a:t>
            </a:r>
            <a:endParaRPr lang="en-US" altLang="ko-KR" sz="2400" dirty="0"/>
          </a:p>
          <a:p>
            <a:pPr algn="ctr"/>
            <a:r>
              <a:rPr lang="ko-KR" altLang="en-US" sz="2400" b="1" dirty="0"/>
              <a:t>코딩파일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219ADE-AB54-74C0-1C10-2A2F9772A59F}"/>
              </a:ext>
            </a:extLst>
          </p:cNvPr>
          <p:cNvSpPr txBox="1"/>
          <p:nvPr/>
        </p:nvSpPr>
        <p:spPr>
          <a:xfrm>
            <a:off x="4618181" y="3286472"/>
            <a:ext cx="2955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/>
              <a:t>하나의 </a:t>
            </a:r>
            <a:r>
              <a:rPr lang="ko-KR" altLang="en-US" sz="2400" b="1" dirty="0" err="1"/>
              <a:t>라즈베리에</a:t>
            </a:r>
            <a:r>
              <a:rPr lang="ko-KR" altLang="en-US" sz="2400" b="1" dirty="0"/>
              <a:t> </a:t>
            </a:r>
            <a:endParaRPr lang="en-US" altLang="ko-KR" sz="2400" b="1" dirty="0"/>
          </a:p>
          <a:p>
            <a:pPr algn="ctr"/>
            <a:r>
              <a:rPr lang="ko-KR" altLang="en-US" sz="2400" b="1" dirty="0"/>
              <a:t>모두 </a:t>
            </a:r>
            <a:r>
              <a:rPr lang="ko-KR" altLang="en-US" sz="2400" b="1" dirty="0" err="1"/>
              <a:t>연결후</a:t>
            </a:r>
            <a:r>
              <a:rPr lang="ko-KR" altLang="en-US" sz="2400" b="1" dirty="0"/>
              <a:t> 시행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FF4DBC-8109-1FD0-5595-48652F090E84}"/>
              </a:ext>
            </a:extLst>
          </p:cNvPr>
          <p:cNvSpPr txBox="1"/>
          <p:nvPr/>
        </p:nvSpPr>
        <p:spPr>
          <a:xfrm>
            <a:off x="7393709" y="4743137"/>
            <a:ext cx="176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-120,000\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87BF26-9D4F-5FD1-512C-B4F1B01AD954}"/>
              </a:ext>
            </a:extLst>
          </p:cNvPr>
          <p:cNvSpPr txBox="1"/>
          <p:nvPr/>
        </p:nvSpPr>
        <p:spPr>
          <a:xfrm>
            <a:off x="4867563" y="6456278"/>
            <a:ext cx="2526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故</a:t>
            </a:r>
            <a:r>
              <a:rPr lang="en-US" altLang="ko-KR" dirty="0"/>
              <a:t>)</a:t>
            </a:r>
            <a:r>
              <a:rPr lang="ko-KR" altLang="en-US" dirty="0"/>
              <a:t>시즌 첫번째</a:t>
            </a:r>
            <a:r>
              <a:rPr lang="en-US" altLang="ko-KR" dirty="0"/>
              <a:t> </a:t>
            </a:r>
            <a:r>
              <a:rPr lang="ko-KR" altLang="en-US" dirty="0"/>
              <a:t>파이</a:t>
            </a:r>
            <a:r>
              <a:rPr lang="en-US" altLang="ko-KR" dirty="0"/>
              <a:t>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3684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A6B0B-4EC6-E902-9CF9-52314FCDB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원인 분석</a:t>
            </a:r>
            <a:r>
              <a:rPr lang="en-US" altLang="ko-KR" dirty="0"/>
              <a:t>, </a:t>
            </a:r>
            <a:r>
              <a:rPr lang="ko-KR" altLang="en-US" dirty="0"/>
              <a:t>목표 재설정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553443-CDBF-D392-4A01-48E7BF68480D}"/>
              </a:ext>
            </a:extLst>
          </p:cNvPr>
          <p:cNvSpPr txBox="1"/>
          <p:nvPr/>
        </p:nvSpPr>
        <p:spPr>
          <a:xfrm>
            <a:off x="369454" y="1810204"/>
            <a:ext cx="527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에러코드 하나 없이 </a:t>
            </a:r>
            <a:r>
              <a:rPr lang="ko-KR" altLang="en-US" sz="2400" dirty="0" err="1">
                <a:highlight>
                  <a:srgbClr val="FFFF00"/>
                </a:highlight>
              </a:rPr>
              <a:t>비명횡사</a:t>
            </a:r>
            <a:r>
              <a:rPr lang="ko-KR" altLang="en-US" dirty="0" err="1"/>
              <a:t>하여</a:t>
            </a:r>
            <a:r>
              <a:rPr lang="ko-KR" altLang="en-US" dirty="0"/>
              <a:t> 원인을 모름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4DEE8-40B4-4AF5-8EE1-286C088631B0}"/>
              </a:ext>
            </a:extLst>
          </p:cNvPr>
          <p:cNvSpPr txBox="1"/>
          <p:nvPr/>
        </p:nvSpPr>
        <p:spPr>
          <a:xfrm>
            <a:off x="838200" y="3235232"/>
            <a:ext cx="36668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배터리의 불안정성 문제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32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2B7E99FF-48A5-AE50-A9CF-11BA06D8C3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8036" y="3161341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9743FD55-BEE0-9C10-1096-4A3DCECE56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8036" y="4635785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CDFD40-026B-5A68-8C63-4124A93F69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9419" y="3607133"/>
            <a:ext cx="1018430" cy="1018430"/>
          </a:xfrm>
          <a:prstGeom prst="rect">
            <a:avLst/>
          </a:prstGeom>
        </p:spPr>
      </p:pic>
      <p:pic>
        <p:nvPicPr>
          <p:cNvPr id="11" name="그림 10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690805-B2CA-A81E-56EB-27D2AF36783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8112" y="4956703"/>
            <a:ext cx="1018430" cy="1018430"/>
          </a:xfrm>
          <a:prstGeom prst="rect">
            <a:avLst/>
          </a:prstGeom>
        </p:spPr>
      </p:pic>
      <p:pic>
        <p:nvPicPr>
          <p:cNvPr id="12" name="그림 11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FDEFF8-34F4-D8C5-7412-FC444A26233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0186" y="4956703"/>
            <a:ext cx="1018430" cy="1018430"/>
          </a:xfrm>
          <a:prstGeom prst="rect">
            <a:avLst/>
          </a:prstGeom>
        </p:spPr>
      </p:pic>
      <p:pic>
        <p:nvPicPr>
          <p:cNvPr id="13" name="그림 12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8527D-BFE7-23D3-7815-5CF2B71752F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0186" y="3624752"/>
            <a:ext cx="1018430" cy="101843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5A6960D-1346-C804-B3BA-7AF9437EF10C}"/>
              </a:ext>
            </a:extLst>
          </p:cNvPr>
          <p:cNvSpPr txBox="1"/>
          <p:nvPr/>
        </p:nvSpPr>
        <p:spPr>
          <a:xfrm>
            <a:off x="8518112" y="4450740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app_gui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D75BD6-F5E6-A819-E9B3-04812B147EC2}"/>
              </a:ext>
            </a:extLst>
          </p:cNvPr>
          <p:cNvSpPr txBox="1"/>
          <p:nvPr/>
        </p:nvSpPr>
        <p:spPr>
          <a:xfrm>
            <a:off x="8520172" y="5896380"/>
            <a:ext cx="1126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detector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44E65-3B79-5178-560E-06A745A01F9C}"/>
              </a:ext>
            </a:extLst>
          </p:cNvPr>
          <p:cNvSpPr txBox="1"/>
          <p:nvPr/>
        </p:nvSpPr>
        <p:spPr>
          <a:xfrm>
            <a:off x="9718362" y="5892868"/>
            <a:ext cx="176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water_sensor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4AFF8E-6604-06F4-F724-9FA86E35F2F4}"/>
              </a:ext>
            </a:extLst>
          </p:cNvPr>
          <p:cNvSpPr txBox="1"/>
          <p:nvPr/>
        </p:nvSpPr>
        <p:spPr>
          <a:xfrm>
            <a:off x="9847772" y="4464540"/>
            <a:ext cx="1417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gas_sensor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29E46-554E-0E81-04ED-5E92703AAE2B}"/>
              </a:ext>
            </a:extLst>
          </p:cNvPr>
          <p:cNvSpPr txBox="1"/>
          <p:nvPr/>
        </p:nvSpPr>
        <p:spPr>
          <a:xfrm>
            <a:off x="8450031" y="2547172"/>
            <a:ext cx="27352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r>
              <a:rPr lang="ko-KR" altLang="en-US" dirty="0"/>
              <a:t>최소한의 기능을 제외한 나머지 센서 및 </a:t>
            </a:r>
            <a:r>
              <a:rPr lang="en-US" altLang="ko-KR" dirty="0" err="1"/>
              <a:t>gui</a:t>
            </a:r>
            <a:r>
              <a:rPr lang="en-US" altLang="ko-KR" dirty="0"/>
              <a:t> </a:t>
            </a:r>
            <a:r>
              <a:rPr lang="ko-KR" altLang="en-US" dirty="0"/>
              <a:t>폐기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3C6B95-17CF-4034-B355-3C7B9E25FB77}"/>
              </a:ext>
            </a:extLst>
          </p:cNvPr>
          <p:cNvSpPr txBox="1"/>
          <p:nvPr/>
        </p:nvSpPr>
        <p:spPr>
          <a:xfrm>
            <a:off x="5248161" y="2877641"/>
            <a:ext cx="243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DCDC</a:t>
            </a:r>
            <a:r>
              <a:rPr lang="ko-KR" altLang="en-US" dirty="0"/>
              <a:t>컨버터 추가</a:t>
            </a:r>
            <a:endParaRPr lang="en-US" altLang="ko-K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942086-2796-F309-8777-93366B29666B}"/>
              </a:ext>
            </a:extLst>
          </p:cNvPr>
          <p:cNvSpPr txBox="1"/>
          <p:nvPr/>
        </p:nvSpPr>
        <p:spPr>
          <a:xfrm>
            <a:off x="838200" y="46616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과도한 센서사용의 문제</a:t>
            </a:r>
            <a:endParaRPr lang="en-US" altLang="ko-KR" dirty="0"/>
          </a:p>
        </p:txBody>
      </p:sp>
      <p:sp>
        <p:nvSpPr>
          <p:cNvPr id="23" name="곱하기 기호 22">
            <a:extLst>
              <a:ext uri="{FF2B5EF4-FFF2-40B4-BE49-F238E27FC236}">
                <a16:creationId xmlns:a16="http://schemas.microsoft.com/office/drawing/2014/main" id="{ED5FB97C-539E-7993-B866-82E905C8EF30}"/>
              </a:ext>
            </a:extLst>
          </p:cNvPr>
          <p:cNvSpPr/>
          <p:nvPr/>
        </p:nvSpPr>
        <p:spPr>
          <a:xfrm>
            <a:off x="7803265" y="2920517"/>
            <a:ext cx="3999346" cy="3799109"/>
          </a:xfrm>
          <a:prstGeom prst="mathMultiply">
            <a:avLst>
              <a:gd name="adj1" fmla="val 3584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6B31128-6723-A11B-6F7F-1E6E17113BF9}"/>
              </a:ext>
            </a:extLst>
          </p:cNvPr>
          <p:cNvSpPr/>
          <p:nvPr/>
        </p:nvSpPr>
        <p:spPr>
          <a:xfrm>
            <a:off x="3803001" y="3870082"/>
            <a:ext cx="1161473" cy="560715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0B2DFE-49BB-B199-B666-64C251DB35A9}"/>
              </a:ext>
            </a:extLst>
          </p:cNvPr>
          <p:cNvSpPr txBox="1"/>
          <p:nvPr/>
        </p:nvSpPr>
        <p:spPr>
          <a:xfrm>
            <a:off x="3725163" y="3996550"/>
            <a:ext cx="1333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i="1" dirty="0"/>
              <a:t>목표 재설정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13F459-77AB-B1F7-0CB0-2BFC4BD8D05A}"/>
              </a:ext>
            </a:extLst>
          </p:cNvPr>
          <p:cNvSpPr txBox="1"/>
          <p:nvPr/>
        </p:nvSpPr>
        <p:spPr>
          <a:xfrm>
            <a:off x="5248161" y="4956703"/>
            <a:ext cx="2876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차례로 주요기능 추가하며 안정성 확보</a:t>
            </a:r>
          </a:p>
        </p:txBody>
      </p:sp>
      <p:pic>
        <p:nvPicPr>
          <p:cNvPr id="28" name="그림 27" descr="패시브 회로 부품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2612F8-092E-C3D5-0CFA-7A7B88E9E7B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11240" y="3308482"/>
            <a:ext cx="1609614" cy="1469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53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21B7AF-F8E2-0AFB-F664-4A648B0C8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 가볍고</a:t>
            </a:r>
            <a:r>
              <a:rPr lang="en-US" altLang="ko-KR" dirty="0"/>
              <a:t>,</a:t>
            </a:r>
            <a:r>
              <a:rPr lang="ko-KR" altLang="en-US" dirty="0"/>
              <a:t> 빠르고</a:t>
            </a:r>
            <a:r>
              <a:rPr lang="en-US" altLang="ko-KR" dirty="0"/>
              <a:t>,</a:t>
            </a:r>
            <a:r>
              <a:rPr lang="ko-KR" altLang="en-US" dirty="0"/>
              <a:t> 정확하게</a:t>
            </a:r>
          </a:p>
        </p:txBody>
      </p:sp>
      <p:pic>
        <p:nvPicPr>
          <p:cNvPr id="10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95123604-47CB-18D6-9251-7A33424F1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469" y="1660925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3D829D-244B-7DCE-1211-D39DB66B0FB4}"/>
              </a:ext>
            </a:extLst>
          </p:cNvPr>
          <p:cNvSpPr txBox="1"/>
          <p:nvPr/>
        </p:nvSpPr>
        <p:spPr>
          <a:xfrm>
            <a:off x="1605643" y="1625318"/>
            <a:ext cx="63084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모델 트레이닝 과정 모델 해상도 조정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더 많은 반복학습으로 가볍지만 정확하게 개선 </a:t>
            </a:r>
          </a:p>
        </p:txBody>
      </p:sp>
      <p:pic>
        <p:nvPicPr>
          <p:cNvPr id="12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2AB278AE-AD63-1646-3808-9DB5806F81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469" y="2679986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95953DA-4B09-4669-EFF1-DB55C8C2EAE1}"/>
              </a:ext>
            </a:extLst>
          </p:cNvPr>
          <p:cNvSpPr txBox="1"/>
          <p:nvPr/>
        </p:nvSpPr>
        <p:spPr>
          <a:xfrm>
            <a:off x="1605643" y="262129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j-lt"/>
              </a:rPr>
              <a:t>YOLOv8</a:t>
            </a:r>
            <a:r>
              <a:rPr lang="ko-KR" altLang="en-US" dirty="0">
                <a:latin typeface="+mj-lt"/>
              </a:rPr>
              <a:t>은 높은 정확도와 </a:t>
            </a:r>
            <a:r>
              <a:rPr lang="ko-KR" altLang="en-US" dirty="0" err="1">
                <a:latin typeface="+mj-lt"/>
              </a:rPr>
              <a:t>경량화된</a:t>
            </a:r>
            <a:r>
              <a:rPr lang="ko-KR" altLang="en-US" dirty="0">
                <a:latin typeface="+mj-lt"/>
              </a:rPr>
              <a:t> 구조를 동시에 갖추고 있어 선택</a:t>
            </a:r>
          </a:p>
        </p:txBody>
      </p:sp>
      <p:pic>
        <p:nvPicPr>
          <p:cNvPr id="15" name="그림 14" descr="전자제품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64584A-C3C0-1198-495F-C123B25C608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8510986" y="2528660"/>
            <a:ext cx="1954491" cy="2247664"/>
          </a:xfrm>
          <a:prstGeom prst="rect">
            <a:avLst/>
          </a:prstGeom>
        </p:spPr>
      </p:pic>
      <p:pic>
        <p:nvPicPr>
          <p:cNvPr id="16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5C2B227F-2C22-0741-D9BD-02EF8A8F3C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469" y="3594350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D77ECFB-AF2E-C9BB-D33C-472A3184743C}"/>
              </a:ext>
            </a:extLst>
          </p:cNvPr>
          <p:cNvSpPr txBox="1"/>
          <p:nvPr/>
        </p:nvSpPr>
        <p:spPr>
          <a:xfrm>
            <a:off x="1605643" y="347966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lt"/>
              </a:rPr>
              <a:t>실시간으로 화재 중심 좌표</a:t>
            </a:r>
            <a:r>
              <a:rPr lang="en-US" altLang="ko-KR" dirty="0">
                <a:latin typeface="+mj-lt"/>
              </a:rPr>
              <a:t>(x, y)</a:t>
            </a:r>
            <a:r>
              <a:rPr lang="ko-KR" altLang="en-US" dirty="0">
                <a:latin typeface="+mj-lt"/>
              </a:rPr>
              <a:t>와 크기</a:t>
            </a:r>
            <a:r>
              <a:rPr lang="en-US" altLang="ko-KR" dirty="0">
                <a:latin typeface="+mj-lt"/>
              </a:rPr>
              <a:t>(w, h)</a:t>
            </a:r>
            <a:r>
              <a:rPr lang="ko-KR" altLang="en-US" dirty="0">
                <a:latin typeface="+mj-lt"/>
              </a:rPr>
              <a:t>를 추론하여 정확하게 조준할 수 있도록 설계</a:t>
            </a:r>
            <a:r>
              <a:rPr lang="en-US" altLang="ko-KR" dirty="0">
                <a:latin typeface="+mj-lt"/>
              </a:rPr>
              <a:t> </a:t>
            </a:r>
            <a:endParaRPr lang="ko-KR" altLang="en-US" dirty="0">
              <a:latin typeface="+mj-lt"/>
            </a:endParaRPr>
          </a:p>
        </p:txBody>
      </p:sp>
      <p:pic>
        <p:nvPicPr>
          <p:cNvPr id="18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914413AF-3A78-EC99-3649-64D981A69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469" y="4577805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B8D6CBD-A035-1F5D-760D-C5A1D6279BA1}"/>
              </a:ext>
            </a:extLst>
          </p:cNvPr>
          <p:cNvSpPr txBox="1"/>
          <p:nvPr/>
        </p:nvSpPr>
        <p:spPr>
          <a:xfrm>
            <a:off x="1605643" y="445272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+mj-lt"/>
              </a:rPr>
              <a:t>1</a:t>
            </a:r>
            <a:r>
              <a:rPr lang="ko-KR" altLang="en-US" dirty="0">
                <a:latin typeface="+mj-lt"/>
              </a:rPr>
              <a:t>학기의 전작과 다른 </a:t>
            </a:r>
            <a:r>
              <a:rPr lang="en-US" altLang="ko-KR" dirty="0">
                <a:latin typeface="+mj-lt"/>
              </a:rPr>
              <a:t>(pi4b,pi</a:t>
            </a:r>
            <a:r>
              <a:rPr lang="ko-KR" altLang="en-US" dirty="0">
                <a:latin typeface="+mj-lt"/>
              </a:rPr>
              <a:t>카메라</a:t>
            </a:r>
            <a:r>
              <a:rPr lang="en-US" altLang="ko-KR" dirty="0">
                <a:latin typeface="+mj-lt"/>
              </a:rPr>
              <a:t>2-&gt;pi5,pi</a:t>
            </a:r>
            <a:r>
              <a:rPr lang="ko-KR" altLang="en-US" dirty="0">
                <a:latin typeface="+mj-lt"/>
              </a:rPr>
              <a:t>카메라</a:t>
            </a:r>
            <a:r>
              <a:rPr lang="en-US" altLang="ko-KR" dirty="0">
                <a:latin typeface="+mj-lt"/>
              </a:rPr>
              <a:t>3)</a:t>
            </a:r>
            <a:r>
              <a:rPr lang="ko-KR" altLang="en-US" dirty="0">
                <a:latin typeface="+mj-lt"/>
              </a:rPr>
              <a:t>를 채용하여 끊기지 않고 빠른 추론</a:t>
            </a:r>
            <a:r>
              <a:rPr lang="en-US" altLang="ko-KR" dirty="0">
                <a:latin typeface="+mj-lt"/>
              </a:rPr>
              <a:t>, </a:t>
            </a:r>
            <a:r>
              <a:rPr lang="ko-KR" altLang="en-US" dirty="0">
                <a:latin typeface="+mj-lt"/>
              </a:rPr>
              <a:t>빠른 추적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76A370F-10B9-39BC-3AC3-5438CE408E58}"/>
              </a:ext>
            </a:extLst>
          </p:cNvPr>
          <p:cNvSpPr txBox="1"/>
          <p:nvPr/>
        </p:nvSpPr>
        <p:spPr>
          <a:xfrm>
            <a:off x="1605643" y="542578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+mj-lt"/>
              </a:rPr>
              <a:t>ONNX 기반 최적화를 통해 </a:t>
            </a:r>
            <a:r>
              <a:rPr lang="ko-KR" altLang="en-US" dirty="0" err="1">
                <a:latin typeface="+mj-lt"/>
              </a:rPr>
              <a:t>라즈베리파이</a:t>
            </a:r>
            <a:r>
              <a:rPr lang="ko-KR" altLang="en-US" dirty="0">
                <a:latin typeface="+mj-lt"/>
              </a:rPr>
              <a:t> 환경에서 실제 구동 가능한 성능 확보</a:t>
            </a:r>
          </a:p>
        </p:txBody>
      </p:sp>
      <p:pic>
        <p:nvPicPr>
          <p:cNvPr id="23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F04E53E3-2B6F-1F37-5AD0-E580FAC97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09469" y="5550863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21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ACB3DC-3497-B781-660E-4F397AE81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두번째 시행</a:t>
            </a:r>
            <a:r>
              <a:rPr lang="en-US" altLang="ko-KR" dirty="0"/>
              <a:t>, </a:t>
            </a:r>
            <a:r>
              <a:rPr lang="ko-KR" altLang="en-US" dirty="0"/>
              <a:t>두번째 시련</a:t>
            </a:r>
          </a:p>
        </p:txBody>
      </p:sp>
      <p:pic>
        <p:nvPicPr>
          <p:cNvPr id="4" name="Picture 2" descr="이모티콘 파일 폴더 디렉토리 컴퓨터 아이콘, 이모티콘, 파랑, 각, 직사각형 png | PNGWing">
            <a:extLst>
              <a:ext uri="{FF2B5EF4-FFF2-40B4-BE49-F238E27FC236}">
                <a16:creationId xmlns:a16="http://schemas.microsoft.com/office/drawing/2014/main" id="{E01F8D26-2AFD-3C47-3A93-B27D24AB3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594" b="91211" l="10000" r="90000">
                        <a14:foregroundMark x1="40326" y1="10742" x2="27935" y2="8789"/>
                        <a14:foregroundMark x1="22935" y1="78516" x2="25435" y2="88672"/>
                        <a14:foregroundMark x1="25435" y1="88672" x2="33261" y2="91211"/>
                        <a14:foregroundMark x1="33261" y1="91211" x2="45978" y2="892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9555" y="2440148"/>
            <a:ext cx="1776844" cy="9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6F9379D-4C95-00F3-C801-311E89D01C36}"/>
              </a:ext>
            </a:extLst>
          </p:cNvPr>
          <p:cNvSpPr txBox="1"/>
          <p:nvPr/>
        </p:nvSpPr>
        <p:spPr>
          <a:xfrm>
            <a:off x="1472046" y="3333750"/>
            <a:ext cx="12471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방화광</a:t>
            </a:r>
            <a:r>
              <a:rPr lang="en-US" altLang="ko-KR" dirty="0"/>
              <a:t>v2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B8E06-20CC-14A0-51A0-A5CADCE92FA0}"/>
              </a:ext>
            </a:extLst>
          </p:cNvPr>
          <p:cNvSpPr txBox="1"/>
          <p:nvPr/>
        </p:nvSpPr>
        <p:spPr>
          <a:xfrm>
            <a:off x="1472046" y="3876675"/>
            <a:ext cx="209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모든 코드들 완성</a:t>
            </a:r>
          </a:p>
        </p:txBody>
      </p:sp>
      <p:pic>
        <p:nvPicPr>
          <p:cNvPr id="7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5FE1B705-EB57-DE7E-04CB-F7FC96419B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3223" y="3863254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73ADD91A-3FBD-6358-0827-B7094FB14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3223" y="4433021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EF35ED-CD13-A56D-83C5-5D70DF3057B4}"/>
              </a:ext>
            </a:extLst>
          </p:cNvPr>
          <p:cNvSpPr txBox="1"/>
          <p:nvPr/>
        </p:nvSpPr>
        <p:spPr>
          <a:xfrm>
            <a:off x="1529196" y="4446442"/>
            <a:ext cx="209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모든 센서들 연결</a:t>
            </a:r>
          </a:p>
        </p:txBody>
      </p:sp>
      <p:pic>
        <p:nvPicPr>
          <p:cNvPr id="10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9F0AA81A-99A1-5900-0A4A-94010E0BB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3223" y="5029630"/>
            <a:ext cx="396174" cy="396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524F048-FCF3-5D1A-BC19-15FF3E7F377F}"/>
              </a:ext>
            </a:extLst>
          </p:cNvPr>
          <p:cNvSpPr txBox="1"/>
          <p:nvPr/>
        </p:nvSpPr>
        <p:spPr>
          <a:xfrm>
            <a:off x="1529196" y="5029630"/>
            <a:ext cx="2091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정상작동 확인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ACC94F-29A3-9E21-5E7B-298B3EC50E5E}"/>
              </a:ext>
            </a:extLst>
          </p:cNvPr>
          <p:cNvSpPr txBox="1"/>
          <p:nvPr/>
        </p:nvSpPr>
        <p:spPr>
          <a:xfrm>
            <a:off x="10474038" y="2934574"/>
            <a:ext cx="1764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-120,000\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8B6C03-2DD4-F11A-4AAD-0AB7E4525F0C}"/>
              </a:ext>
            </a:extLst>
          </p:cNvPr>
          <p:cNvSpPr txBox="1"/>
          <p:nvPr/>
        </p:nvSpPr>
        <p:spPr>
          <a:xfrm>
            <a:off x="8474364" y="5255043"/>
            <a:ext cx="239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故</a:t>
            </a:r>
            <a:r>
              <a:rPr lang="en-US" altLang="ko-KR" dirty="0"/>
              <a:t>)</a:t>
            </a:r>
            <a:r>
              <a:rPr lang="ko-KR" altLang="en-US" dirty="0"/>
              <a:t>시즌 두번째</a:t>
            </a:r>
            <a:r>
              <a:rPr lang="en-US" altLang="ko-KR" dirty="0"/>
              <a:t> </a:t>
            </a:r>
            <a:r>
              <a:rPr lang="ko-KR" altLang="en-US" dirty="0"/>
              <a:t>파이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5" name="화살표: 갈매기형 수장 14">
            <a:extLst>
              <a:ext uri="{FF2B5EF4-FFF2-40B4-BE49-F238E27FC236}">
                <a16:creationId xmlns:a16="http://schemas.microsoft.com/office/drawing/2014/main" id="{6F891659-2FFF-D6F7-1D71-763937AE628B}"/>
              </a:ext>
            </a:extLst>
          </p:cNvPr>
          <p:cNvSpPr/>
          <p:nvPr/>
        </p:nvSpPr>
        <p:spPr>
          <a:xfrm>
            <a:off x="3846382" y="3289545"/>
            <a:ext cx="2065483" cy="1473976"/>
          </a:xfrm>
          <a:prstGeom prst="chevron">
            <a:avLst>
              <a:gd name="adj" fmla="val 28802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222DDB-F963-BCD6-9456-39E3FFCF6063}"/>
              </a:ext>
            </a:extLst>
          </p:cNvPr>
          <p:cNvSpPr txBox="1"/>
          <p:nvPr/>
        </p:nvSpPr>
        <p:spPr>
          <a:xfrm>
            <a:off x="4171978" y="3661232"/>
            <a:ext cx="19656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</a:t>
            </a:r>
            <a:r>
              <a:rPr lang="ko-KR" altLang="en-US" sz="1600" dirty="0"/>
              <a:t>주 후</a:t>
            </a:r>
            <a:endParaRPr lang="en-US" altLang="ko-KR" sz="1600" dirty="0"/>
          </a:p>
          <a:p>
            <a:r>
              <a:rPr lang="ko-KR" altLang="en-US" sz="1600" dirty="0" err="1"/>
              <a:t>재동작</a:t>
            </a:r>
            <a:r>
              <a:rPr lang="ko-KR" altLang="en-US" sz="1600" dirty="0"/>
              <a:t> 확인 과정</a:t>
            </a:r>
          </a:p>
        </p:txBody>
      </p:sp>
      <p:sp>
        <p:nvSpPr>
          <p:cNvPr id="3" name="화살표: 갈매기형 수장 2">
            <a:extLst>
              <a:ext uri="{FF2B5EF4-FFF2-40B4-BE49-F238E27FC236}">
                <a16:creationId xmlns:a16="http://schemas.microsoft.com/office/drawing/2014/main" id="{1E4CF9F0-DFC5-4911-F9B6-A745FCD0B9FD}"/>
              </a:ext>
            </a:extLst>
          </p:cNvPr>
          <p:cNvSpPr/>
          <p:nvPr/>
        </p:nvSpPr>
        <p:spPr>
          <a:xfrm>
            <a:off x="5687277" y="3306743"/>
            <a:ext cx="2065483" cy="1473976"/>
          </a:xfrm>
          <a:prstGeom prst="chevron">
            <a:avLst>
              <a:gd name="adj" fmla="val 28802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DDB8F3-6325-1063-173B-ADF34BA6F132}"/>
              </a:ext>
            </a:extLst>
          </p:cNvPr>
          <p:cNvSpPr txBox="1"/>
          <p:nvPr/>
        </p:nvSpPr>
        <p:spPr>
          <a:xfrm>
            <a:off x="6067864" y="3645842"/>
            <a:ext cx="19656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입력없는</a:t>
            </a:r>
            <a:r>
              <a:rPr lang="en-US" altLang="ko-KR" sz="1600" dirty="0"/>
              <a:t>DCDC</a:t>
            </a:r>
          </a:p>
          <a:p>
            <a:r>
              <a:rPr lang="en-US" altLang="ko-KR" sz="1600" dirty="0"/>
              <a:t>9v</a:t>
            </a:r>
            <a:r>
              <a:rPr lang="ko-KR" altLang="en-US" sz="1600" dirty="0"/>
              <a:t>출력 발생</a:t>
            </a:r>
            <a:endParaRPr lang="en-US" altLang="ko-KR" sz="1600" dirty="0"/>
          </a:p>
          <a:p>
            <a:r>
              <a:rPr lang="en-US" altLang="ko-KR" sz="1600" dirty="0"/>
              <a:t>(</a:t>
            </a:r>
            <a:r>
              <a:rPr lang="ko-KR" altLang="en-US" sz="1600" dirty="0"/>
              <a:t>기존 </a:t>
            </a:r>
            <a:r>
              <a:rPr lang="en-US" altLang="ko-KR" sz="1600" dirty="0"/>
              <a:t>5v</a:t>
            </a:r>
            <a:r>
              <a:rPr lang="ko-KR" altLang="en-US" sz="1600" dirty="0"/>
              <a:t>설정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00300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B0A5B3-0DB6-5CDD-223E-986F1DEE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코드 구조 설명</a:t>
            </a:r>
          </a:p>
        </p:txBody>
      </p:sp>
      <p:pic>
        <p:nvPicPr>
          <p:cNvPr id="4" name="Picture 2" descr="이모티콘 파일 폴더 디렉토리 컴퓨터 아이콘, 이모티콘, 파랑, 각, 직사각형 png | PNGWing">
            <a:extLst>
              <a:ext uri="{FF2B5EF4-FFF2-40B4-BE49-F238E27FC236}">
                <a16:creationId xmlns:a16="http://schemas.microsoft.com/office/drawing/2014/main" id="{2B2C162E-A745-1A68-987B-16E391881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94" b="91211" l="10000" r="90000">
                        <a14:foregroundMark x1="40326" y1="10742" x2="27935" y2="8789"/>
                        <a14:foregroundMark x1="22935" y1="78516" x2="25435" y2="88672"/>
                        <a14:foregroundMark x1="25435" y1="88672" x2="33261" y2="91211"/>
                        <a14:foregroundMark x1="33261" y1="91211" x2="45978" y2="892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814" y="1518929"/>
            <a:ext cx="1776844" cy="9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C6B8AF9-8EBC-06F0-9B30-902D158DD6AF}"/>
              </a:ext>
            </a:extLst>
          </p:cNvPr>
          <p:cNvSpPr txBox="1"/>
          <p:nvPr/>
        </p:nvSpPr>
        <p:spPr>
          <a:xfrm>
            <a:off x="452582" y="2475160"/>
            <a:ext cx="1145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방화광</a:t>
            </a:r>
            <a:r>
              <a:rPr lang="en-US" altLang="ko-KR" dirty="0"/>
              <a:t>v3</a:t>
            </a:r>
            <a:endParaRPr lang="ko-KR" altLang="en-US" dirty="0"/>
          </a:p>
        </p:txBody>
      </p:sp>
      <p:pic>
        <p:nvPicPr>
          <p:cNvPr id="6" name="그림 5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6A9965-F442-3BF1-FF74-BDFB9E13C0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504" y="1631553"/>
            <a:ext cx="1018430" cy="1018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D0B7DF-DA89-5524-9174-CB3C93DA9963}"/>
              </a:ext>
            </a:extLst>
          </p:cNvPr>
          <p:cNvSpPr txBox="1"/>
          <p:nvPr/>
        </p:nvSpPr>
        <p:spPr>
          <a:xfrm>
            <a:off x="1827183" y="2507781"/>
            <a:ext cx="884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main</a:t>
            </a:r>
            <a:endParaRPr lang="ko-KR" altLang="en-US" dirty="0"/>
          </a:p>
        </p:txBody>
      </p:sp>
      <p:pic>
        <p:nvPicPr>
          <p:cNvPr id="8" name="그림 7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7E2253-5486-176B-BBA3-B155E13461E7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504" y="3493590"/>
            <a:ext cx="1018430" cy="1018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FD9C0F-E203-9B23-C095-41E5EC22DAA7}"/>
              </a:ext>
            </a:extLst>
          </p:cNvPr>
          <p:cNvSpPr txBox="1"/>
          <p:nvPr/>
        </p:nvSpPr>
        <p:spPr>
          <a:xfrm>
            <a:off x="1418551" y="4337197"/>
            <a:ext cx="15590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robot_modes</a:t>
            </a:r>
            <a:endParaRPr lang="ko-KR" altLang="en-US" dirty="0"/>
          </a:p>
        </p:txBody>
      </p:sp>
      <p:pic>
        <p:nvPicPr>
          <p:cNvPr id="10" name="그림 9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1D489E2-ECFC-1542-59D1-CFE5036199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504" y="5119021"/>
            <a:ext cx="1018430" cy="1018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ED5839-E847-06C1-A083-3F5F78576948}"/>
              </a:ext>
            </a:extLst>
          </p:cNvPr>
          <p:cNvSpPr txBox="1"/>
          <p:nvPr/>
        </p:nvSpPr>
        <p:spPr>
          <a:xfrm>
            <a:off x="1738378" y="5962628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camera</a:t>
            </a:r>
            <a:endParaRPr lang="ko-KR" altLang="en-US" dirty="0"/>
          </a:p>
        </p:txBody>
      </p:sp>
      <p:pic>
        <p:nvPicPr>
          <p:cNvPr id="12" name="그림 11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21AE019-73CE-6F64-5A88-7E43EAB69638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570" y="2645473"/>
            <a:ext cx="1018430" cy="10184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817FFFD-9DA8-02F5-4799-72AF8E2FD60D}"/>
              </a:ext>
            </a:extLst>
          </p:cNvPr>
          <p:cNvSpPr txBox="1"/>
          <p:nvPr/>
        </p:nvSpPr>
        <p:spPr>
          <a:xfrm>
            <a:off x="6793100" y="3493590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motor</a:t>
            </a:r>
            <a:endParaRPr lang="ko-KR" altLang="en-US" dirty="0"/>
          </a:p>
        </p:txBody>
      </p:sp>
      <p:pic>
        <p:nvPicPr>
          <p:cNvPr id="14" name="그림 13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0CA41-BC5E-DA24-FF09-2F14B426EB4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570" y="4337197"/>
            <a:ext cx="1018430" cy="10184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E9F80D-9C1F-B2E0-7B45-9556C2002270}"/>
              </a:ext>
            </a:extLst>
          </p:cNvPr>
          <p:cNvSpPr txBox="1"/>
          <p:nvPr/>
        </p:nvSpPr>
        <p:spPr>
          <a:xfrm>
            <a:off x="6830043" y="5170961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servo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A18C5E-5A08-2063-8391-B697F5FF8A06}"/>
              </a:ext>
            </a:extLst>
          </p:cNvPr>
          <p:cNvSpPr txBox="1"/>
          <p:nvPr/>
        </p:nvSpPr>
        <p:spPr>
          <a:xfrm>
            <a:off x="2595466" y="1766217"/>
            <a:ext cx="400853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lt"/>
              </a:rPr>
              <a:t>[시스템 총괄]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모든 하드웨어 객체를 초기화하고, 안전한 종료(</a:t>
            </a:r>
            <a:r>
              <a:rPr lang="ko-KR" altLang="en-US" sz="1400" dirty="0" err="1">
                <a:latin typeface="+mj-lt"/>
              </a:rPr>
              <a:t>Failsafe</a:t>
            </a:r>
            <a:r>
              <a:rPr lang="ko-KR" altLang="en-US" sz="1400" dirty="0">
                <a:latin typeface="+mj-lt"/>
              </a:rPr>
              <a:t>)와 메인 루프 실행을 담당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39B3E5-F206-06DA-EF27-6CF75B2EF637}"/>
              </a:ext>
            </a:extLst>
          </p:cNvPr>
          <p:cNvSpPr txBox="1"/>
          <p:nvPr/>
        </p:nvSpPr>
        <p:spPr>
          <a:xfrm>
            <a:off x="2576993" y="3623604"/>
            <a:ext cx="419763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핵심 알고리즘]</a:t>
            </a:r>
            <a:r>
              <a:rPr lang="ko-KR" altLang="en-US" sz="1400" dirty="0">
                <a:latin typeface="+mj-lt"/>
              </a:rPr>
              <a:t> 수동/자동 모드 전환을 관리, 특히 자동 모드에서 AI 비전과 물리 센서를 융합하고 실시간 조준 보정을 수행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3E50DE-C4AF-462D-CA22-7DA7A55839A4}"/>
              </a:ext>
            </a:extLst>
          </p:cNvPr>
          <p:cNvSpPr txBox="1"/>
          <p:nvPr/>
        </p:nvSpPr>
        <p:spPr>
          <a:xfrm>
            <a:off x="2558520" y="5230373"/>
            <a:ext cx="419763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lt"/>
              </a:rPr>
              <a:t>[AI 비전]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err="1">
                <a:latin typeface="+mj-lt"/>
              </a:rPr>
              <a:t>RPi</a:t>
            </a:r>
            <a:r>
              <a:rPr lang="ko-KR" altLang="en-US" sz="1400" dirty="0">
                <a:latin typeface="+mj-lt"/>
              </a:rPr>
              <a:t> 5 전용 Picamera2와 YOLOv8 모델을 연동, 화재 좌표를 실시간으로 추론하고 신뢰도 기반으로 필터링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412C53-AE67-D50B-9105-FE98BE6F62AA}"/>
              </a:ext>
            </a:extLst>
          </p:cNvPr>
          <p:cNvSpPr txBox="1"/>
          <p:nvPr/>
        </p:nvSpPr>
        <p:spPr>
          <a:xfrm>
            <a:off x="7505606" y="2885942"/>
            <a:ext cx="40767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lt"/>
              </a:rPr>
              <a:t>[주행 제어]</a:t>
            </a:r>
            <a:r>
              <a:rPr lang="ko-KR" altLang="en-US" dirty="0">
                <a:latin typeface="+mj-lt"/>
              </a:rPr>
              <a:t> </a:t>
            </a:r>
            <a:r>
              <a:rPr lang="ko-KR" altLang="en-US" sz="1400" dirty="0">
                <a:latin typeface="+mj-lt"/>
              </a:rPr>
              <a:t>DC 모터의 속도(PWM)와 방향을 정밀하게 제어하여 로봇의 이동을 담당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A91EC8-6389-E7A5-A3E2-98C38971664B}"/>
              </a:ext>
            </a:extLst>
          </p:cNvPr>
          <p:cNvSpPr txBox="1"/>
          <p:nvPr/>
        </p:nvSpPr>
        <p:spPr>
          <a:xfrm>
            <a:off x="7570261" y="4451531"/>
            <a:ext cx="437235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>
                <a:latin typeface="+mj-lt"/>
              </a:rPr>
              <a:t>[조준 시스템] </a:t>
            </a:r>
            <a:r>
              <a:rPr lang="ko-KR" altLang="en-US" sz="1400" dirty="0" err="1">
                <a:latin typeface="+mj-lt"/>
              </a:rPr>
              <a:t>물대포의</a:t>
            </a:r>
            <a:r>
              <a:rPr lang="ko-KR" altLang="en-US" sz="1400" dirty="0">
                <a:latin typeface="+mj-lt"/>
              </a:rPr>
              <a:t> 상하좌우 각도를 제어, 소프트 모션 로직을 적용해 모터 떨림과 전력 소모를 최소화</a:t>
            </a:r>
          </a:p>
        </p:txBody>
      </p:sp>
    </p:spTree>
    <p:extLst>
      <p:ext uri="{BB962C8B-B14F-4D97-AF65-F5344CB8AC3E}">
        <p14:creationId xmlns:p14="http://schemas.microsoft.com/office/powerpoint/2010/main" val="3875080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56826-48F8-D316-ACB6-78D8741AF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7F074-2DAF-76A8-3147-0AFDFA58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코드 구조 설명</a:t>
            </a:r>
          </a:p>
        </p:txBody>
      </p:sp>
      <p:pic>
        <p:nvPicPr>
          <p:cNvPr id="4" name="Picture 2" descr="이모티콘 파일 폴더 디렉토리 컴퓨터 아이콘, 이모티콘, 파랑, 각, 직사각형 png | PNGWing">
            <a:extLst>
              <a:ext uri="{FF2B5EF4-FFF2-40B4-BE49-F238E27FC236}">
                <a16:creationId xmlns:a16="http://schemas.microsoft.com/office/drawing/2014/main" id="{01126B52-A9E4-3356-2639-E86C21736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594" b="91211" l="10000" r="90000">
                        <a14:foregroundMark x1="40326" y1="10742" x2="27935" y2="8789"/>
                        <a14:foregroundMark x1="22935" y1="78516" x2="25435" y2="88672"/>
                        <a14:foregroundMark x1="25435" y1="88672" x2="33261" y2="91211"/>
                        <a14:foregroundMark x1="33261" y1="91211" x2="45978" y2="8925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814" y="1518929"/>
            <a:ext cx="1776844" cy="98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FA666B-3903-AD6D-F29E-CF96D0F24FA1}"/>
              </a:ext>
            </a:extLst>
          </p:cNvPr>
          <p:cNvSpPr txBox="1"/>
          <p:nvPr/>
        </p:nvSpPr>
        <p:spPr>
          <a:xfrm>
            <a:off x="452582" y="2475160"/>
            <a:ext cx="1145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방화광</a:t>
            </a:r>
            <a:r>
              <a:rPr lang="en-US" altLang="ko-KR" dirty="0"/>
              <a:t>v3</a:t>
            </a:r>
            <a:endParaRPr lang="ko-KR" altLang="en-US" dirty="0"/>
          </a:p>
        </p:txBody>
      </p:sp>
      <p:pic>
        <p:nvPicPr>
          <p:cNvPr id="6" name="그림 5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95C41E-2EB3-7C86-161F-C95DE0C9216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504" y="1631553"/>
            <a:ext cx="1018430" cy="10184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F4F2BD9-EFCE-24D3-678A-6C16F0BD725A}"/>
              </a:ext>
            </a:extLst>
          </p:cNvPr>
          <p:cNvSpPr txBox="1"/>
          <p:nvPr/>
        </p:nvSpPr>
        <p:spPr>
          <a:xfrm>
            <a:off x="1827183" y="2507781"/>
            <a:ext cx="8847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pump</a:t>
            </a:r>
            <a:endParaRPr lang="ko-KR" altLang="en-US" dirty="0"/>
          </a:p>
        </p:txBody>
      </p:sp>
      <p:pic>
        <p:nvPicPr>
          <p:cNvPr id="8" name="그림 7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48917D-6882-BE96-6D55-D54734FD013E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504" y="3493590"/>
            <a:ext cx="1018430" cy="10184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64D1AD9-DF11-ADFF-B679-B70ECE00B1B9}"/>
              </a:ext>
            </a:extLst>
          </p:cNvPr>
          <p:cNvSpPr txBox="1"/>
          <p:nvPr/>
        </p:nvSpPr>
        <p:spPr>
          <a:xfrm>
            <a:off x="1751058" y="4337197"/>
            <a:ext cx="1176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joystick</a:t>
            </a:r>
            <a:endParaRPr lang="ko-KR" altLang="en-US" dirty="0"/>
          </a:p>
        </p:txBody>
      </p:sp>
      <p:pic>
        <p:nvPicPr>
          <p:cNvPr id="10" name="그림 9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975853-2C59-A8F1-12F1-3538CC47D2A9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3504" y="5119021"/>
            <a:ext cx="1018430" cy="10184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10FF00-FA77-42BE-0299-BA2E7DCCD0CD}"/>
              </a:ext>
            </a:extLst>
          </p:cNvPr>
          <p:cNvSpPr txBox="1"/>
          <p:nvPr/>
        </p:nvSpPr>
        <p:spPr>
          <a:xfrm>
            <a:off x="1553696" y="5952785"/>
            <a:ext cx="1374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fire_sensor</a:t>
            </a:r>
            <a:endParaRPr lang="ko-KR" altLang="en-US" dirty="0"/>
          </a:p>
        </p:txBody>
      </p:sp>
      <p:pic>
        <p:nvPicPr>
          <p:cNvPr id="12" name="그림 11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B6D16F4-B0DB-A303-03C6-A178D8931A56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570" y="2645473"/>
            <a:ext cx="1018430" cy="10184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B3F8956-16C4-0E84-07B3-DB2F218385BF}"/>
              </a:ext>
            </a:extLst>
          </p:cNvPr>
          <p:cNvSpPr txBox="1"/>
          <p:nvPr/>
        </p:nvSpPr>
        <p:spPr>
          <a:xfrm>
            <a:off x="6728448" y="3493590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/>
              <a:t>rgb_led</a:t>
            </a:r>
            <a:endParaRPr lang="ko-KR" altLang="en-US" dirty="0"/>
          </a:p>
        </p:txBody>
      </p:sp>
      <p:pic>
        <p:nvPicPr>
          <p:cNvPr id="14" name="그림 13" descr="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9D6E76-3164-CFDE-1CCA-F9DD6AE27F1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3570" y="4337197"/>
            <a:ext cx="1018430" cy="10184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0CDB1D3-C54A-8968-F76B-DE939745275A}"/>
              </a:ext>
            </a:extLst>
          </p:cNvPr>
          <p:cNvSpPr txBox="1"/>
          <p:nvPr/>
        </p:nvSpPr>
        <p:spPr>
          <a:xfrm>
            <a:off x="6774627" y="5170961"/>
            <a:ext cx="10117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buzzer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5BC34FD-A446-5A17-2D69-278D457FD7DB}"/>
              </a:ext>
            </a:extLst>
          </p:cNvPr>
          <p:cNvSpPr txBox="1"/>
          <p:nvPr/>
        </p:nvSpPr>
        <p:spPr>
          <a:xfrm>
            <a:off x="2595466" y="1766217"/>
            <a:ext cx="400853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소화 장치</a:t>
            </a:r>
            <a:r>
              <a:rPr lang="en-US" altLang="ko-KR" b="1" dirty="0">
                <a:latin typeface="+mj-lt"/>
              </a:rPr>
              <a:t>] </a:t>
            </a:r>
            <a:r>
              <a:rPr lang="ko-KR" altLang="en-US" sz="1400" dirty="0">
                <a:latin typeface="+mj-lt"/>
              </a:rPr>
              <a:t>모터 드라이버 방식을 채택하여 펌프의 단순 </a:t>
            </a:r>
            <a:r>
              <a:rPr lang="en-US" altLang="ko-KR" sz="1400" dirty="0">
                <a:latin typeface="+mj-lt"/>
              </a:rPr>
              <a:t>ON/OFF</a:t>
            </a:r>
            <a:r>
              <a:rPr lang="ko-KR" altLang="en-US" sz="1400" dirty="0">
                <a:latin typeface="+mj-lt"/>
              </a:rPr>
              <a:t>뿐만 아니라 </a:t>
            </a:r>
            <a:r>
              <a:rPr lang="en-US" altLang="ko-KR" sz="1400" dirty="0">
                <a:latin typeface="+mj-lt"/>
              </a:rPr>
              <a:t>PWM</a:t>
            </a:r>
            <a:r>
              <a:rPr lang="ko-KR" altLang="en-US" sz="1400" dirty="0">
                <a:latin typeface="+mj-lt"/>
              </a:rPr>
              <a:t>을 통한 유량 제어 확장성을 확보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724FF-19BC-DD7E-DB7F-B94FDD573B61}"/>
              </a:ext>
            </a:extLst>
          </p:cNvPr>
          <p:cNvSpPr txBox="1"/>
          <p:nvPr/>
        </p:nvSpPr>
        <p:spPr>
          <a:xfrm>
            <a:off x="2576993" y="3623604"/>
            <a:ext cx="419763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원격 제어</a:t>
            </a:r>
            <a:r>
              <a:rPr lang="en-US" altLang="ko-KR" b="1" dirty="0">
                <a:latin typeface="+mj-lt"/>
              </a:rPr>
              <a:t>] </a:t>
            </a:r>
            <a:r>
              <a:rPr lang="en-US" altLang="ko-KR" sz="1400" dirty="0">
                <a:latin typeface="+mj-lt"/>
              </a:rPr>
              <a:t>8BitDo </a:t>
            </a:r>
            <a:r>
              <a:rPr lang="ko-KR" altLang="en-US" sz="1400" dirty="0">
                <a:latin typeface="+mj-lt"/>
              </a:rPr>
              <a:t>컨트롤러의 입력을 비동기로 처리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주행 명령과 미세 조준 값을 실시간으로 시스템에 전달</a:t>
            </a:r>
            <a:endParaRPr lang="en-US" altLang="ko-KR" sz="1400" dirty="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09603A-81AC-A9E8-9B51-058F98CF3355}"/>
              </a:ext>
            </a:extLst>
          </p:cNvPr>
          <p:cNvSpPr txBox="1"/>
          <p:nvPr/>
        </p:nvSpPr>
        <p:spPr>
          <a:xfrm>
            <a:off x="2549286" y="5230374"/>
            <a:ext cx="4197634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하드웨어 감지</a:t>
            </a:r>
            <a:r>
              <a:rPr lang="en-US" altLang="ko-KR" b="1" dirty="0">
                <a:latin typeface="+mj-lt"/>
              </a:rPr>
              <a:t>] </a:t>
            </a:r>
            <a:r>
              <a:rPr lang="en-US" altLang="ko-KR" sz="1400" dirty="0">
                <a:latin typeface="+mj-lt"/>
              </a:rPr>
              <a:t>IR </a:t>
            </a:r>
            <a:r>
              <a:rPr lang="ko-KR" altLang="en-US" sz="1400" dirty="0">
                <a:latin typeface="+mj-lt"/>
              </a:rPr>
              <a:t>불꽃 센서의 디지털 신호를 처리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카메라 사각지대를 보완하고 </a:t>
            </a:r>
            <a:r>
              <a:rPr lang="en-US" altLang="ko-KR" sz="1400" dirty="0">
                <a:latin typeface="+mj-lt"/>
              </a:rPr>
              <a:t>AI </a:t>
            </a:r>
            <a:r>
              <a:rPr lang="ko-KR" altLang="en-US" sz="1400" dirty="0">
                <a:latin typeface="+mj-lt"/>
              </a:rPr>
              <a:t>인식의 오차를 줄이는 이중 검증 장치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C9D6B5-406F-E02E-1D36-C39C8C6027C1}"/>
              </a:ext>
            </a:extLst>
          </p:cNvPr>
          <p:cNvSpPr txBox="1"/>
          <p:nvPr/>
        </p:nvSpPr>
        <p:spPr>
          <a:xfrm>
            <a:off x="7570261" y="2777154"/>
            <a:ext cx="407679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상태 표시</a:t>
            </a:r>
            <a:r>
              <a:rPr lang="en-US" altLang="ko-KR" b="1" dirty="0">
                <a:latin typeface="+mj-lt"/>
              </a:rPr>
              <a:t>] </a:t>
            </a:r>
            <a:r>
              <a:rPr lang="ko-KR" altLang="en-US" sz="1400" dirty="0">
                <a:latin typeface="+mj-lt"/>
              </a:rPr>
              <a:t>초록</a:t>
            </a:r>
            <a:r>
              <a:rPr lang="en-US" altLang="ko-KR" sz="1400" dirty="0">
                <a:latin typeface="+mj-lt"/>
              </a:rPr>
              <a:t>(</a:t>
            </a:r>
            <a:r>
              <a:rPr lang="ko-KR" altLang="en-US" sz="1400" dirty="0">
                <a:latin typeface="+mj-lt"/>
              </a:rPr>
              <a:t>자동모드</a:t>
            </a:r>
            <a:r>
              <a:rPr lang="en-US" altLang="ko-KR" sz="1400" dirty="0">
                <a:latin typeface="+mj-lt"/>
              </a:rPr>
              <a:t>), </a:t>
            </a:r>
            <a:r>
              <a:rPr lang="ko-KR" altLang="en-US" sz="1400" dirty="0">
                <a:latin typeface="+mj-lt"/>
              </a:rPr>
              <a:t>파랑</a:t>
            </a:r>
            <a:r>
              <a:rPr lang="en-US" altLang="ko-KR" sz="1400" dirty="0">
                <a:latin typeface="+mj-lt"/>
              </a:rPr>
              <a:t>(</a:t>
            </a:r>
            <a:r>
              <a:rPr lang="ko-KR" altLang="en-US" sz="1400" dirty="0">
                <a:latin typeface="+mj-lt"/>
              </a:rPr>
              <a:t>수동모드</a:t>
            </a:r>
            <a:r>
              <a:rPr lang="en-US" altLang="ko-KR" sz="1400" dirty="0">
                <a:latin typeface="+mj-lt"/>
              </a:rPr>
              <a:t>), </a:t>
            </a:r>
            <a:r>
              <a:rPr lang="ko-KR" altLang="en-US" sz="1400" dirty="0">
                <a:latin typeface="+mj-lt"/>
              </a:rPr>
              <a:t>빨강</a:t>
            </a:r>
            <a:r>
              <a:rPr lang="en-US" altLang="ko-KR" sz="1400" dirty="0">
                <a:latin typeface="+mj-lt"/>
              </a:rPr>
              <a:t>(</a:t>
            </a:r>
            <a:r>
              <a:rPr lang="ko-KR" altLang="en-US" sz="1400" dirty="0">
                <a:latin typeface="+mj-lt"/>
              </a:rPr>
              <a:t>물 분사</a:t>
            </a:r>
            <a:r>
              <a:rPr lang="en-US" altLang="ko-KR" sz="1400" dirty="0">
                <a:latin typeface="+mj-lt"/>
              </a:rPr>
              <a:t>)</a:t>
            </a:r>
            <a:r>
              <a:rPr lang="ko-KR" altLang="en-US" sz="1400" dirty="0">
                <a:latin typeface="+mj-lt"/>
              </a:rPr>
              <a:t>를 점등해 로봇의 현재 상태를 직관적인 컬러 코드로 시각화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0F61E0-AF34-41D6-7827-714A5B4F1982}"/>
              </a:ext>
            </a:extLst>
          </p:cNvPr>
          <p:cNvSpPr txBox="1"/>
          <p:nvPr/>
        </p:nvSpPr>
        <p:spPr>
          <a:xfrm>
            <a:off x="7570261" y="4451531"/>
            <a:ext cx="437235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>
                <a:latin typeface="+mj-lt"/>
              </a:rPr>
              <a:t>[</a:t>
            </a:r>
            <a:r>
              <a:rPr lang="ko-KR" altLang="en-US" b="1" dirty="0">
                <a:latin typeface="+mj-lt"/>
              </a:rPr>
              <a:t>청각 알림</a:t>
            </a:r>
            <a:r>
              <a:rPr lang="en-US" altLang="ko-KR" b="1" dirty="0">
                <a:latin typeface="+mj-lt"/>
              </a:rPr>
              <a:t>] </a:t>
            </a:r>
            <a:r>
              <a:rPr lang="ko-KR" altLang="en-US" sz="1400" dirty="0">
                <a:latin typeface="+mj-lt"/>
              </a:rPr>
              <a:t>물 발사 시 경고음을 송출하여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시각 정보 확인이 어려운 상황에서도 로봇의 작동 상태를 인지하도록 도움</a:t>
            </a:r>
          </a:p>
        </p:txBody>
      </p:sp>
    </p:spTree>
    <p:extLst>
      <p:ext uri="{BB962C8B-B14F-4D97-AF65-F5344CB8AC3E}">
        <p14:creationId xmlns:p14="http://schemas.microsoft.com/office/powerpoint/2010/main" val="3108598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B425C5-69EB-4FF3-12EE-9583C292D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작동 구조</a:t>
            </a:r>
          </a:p>
        </p:txBody>
      </p:sp>
      <p:pic>
        <p:nvPicPr>
          <p:cNvPr id="4" name="그림 3" descr="공구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C7895A-B05A-B86D-ED15-DAD40989AF49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1582" y="1925662"/>
            <a:ext cx="1777769" cy="1777769"/>
          </a:xfrm>
          <a:prstGeom prst="rect">
            <a:avLst/>
          </a:prstGeom>
        </p:spPr>
      </p:pic>
      <p:pic>
        <p:nvPicPr>
          <p:cNvPr id="5" name="그림 4" descr="전자제품, 회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B4D1D3-D6A6-B510-CC28-5B096E86CBE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60508" y="3518703"/>
            <a:ext cx="1667872" cy="1918051"/>
          </a:xfrm>
          <a:prstGeom prst="rect">
            <a:avLst/>
          </a:prstGeom>
        </p:spPr>
      </p:pic>
      <p:pic>
        <p:nvPicPr>
          <p:cNvPr id="6" name="그림 5" descr="원, 실린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0E69C41-CCE0-5C42-884F-D3BD75E0837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47587" y="4844990"/>
            <a:ext cx="2018681" cy="201868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8DCFC2A-9AE9-B0E5-72C0-8F7D1AB07166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8827" y="2468127"/>
            <a:ext cx="1788900" cy="1788900"/>
          </a:xfrm>
          <a:prstGeom prst="rect">
            <a:avLst/>
          </a:prstGeom>
        </p:spPr>
      </p:pic>
      <p:pic>
        <p:nvPicPr>
          <p:cNvPr id="8" name="그림 7" descr="원, 턴테이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20627E-3DAD-2833-10C9-D0A642AD9B7E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94073" y="5028710"/>
            <a:ext cx="1829290" cy="1829290"/>
          </a:xfrm>
          <a:prstGeom prst="rect">
            <a:avLst/>
          </a:prstGeom>
        </p:spPr>
      </p:pic>
      <p:pic>
        <p:nvPicPr>
          <p:cNvPr id="9" name="그림 8" descr="텍스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559E3DE-E6B8-618D-94F9-72233AAC7926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33477" y="183788"/>
            <a:ext cx="2121674" cy="1175737"/>
          </a:xfrm>
          <a:prstGeom prst="rect">
            <a:avLst/>
          </a:prstGeom>
        </p:spPr>
      </p:pic>
      <p:pic>
        <p:nvPicPr>
          <p:cNvPr id="10" name="그림 9" descr="바퀴, 장난감, 타이어, 자동차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D0D687-047A-E7AF-BDA0-FDE78AEC6C9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8369" y="2656570"/>
            <a:ext cx="2792468" cy="20937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7B5592-F34D-3BC4-EE44-5C2E3256CC71}"/>
              </a:ext>
            </a:extLst>
          </p:cNvPr>
          <p:cNvSpPr txBox="1"/>
          <p:nvPr/>
        </p:nvSpPr>
        <p:spPr>
          <a:xfrm>
            <a:off x="1876093" y="4070093"/>
            <a:ext cx="51562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초록)</a:t>
            </a:r>
            <a:r>
              <a:rPr lang="ko-KR" altLang="en-US" sz="1400" dirty="0"/>
              <a:t>자동모드</a:t>
            </a:r>
            <a:endParaRPr lang="en-US" altLang="ko-KR" sz="1400" dirty="0"/>
          </a:p>
          <a:p>
            <a:r>
              <a:rPr lang="ko-KR" altLang="en-US" dirty="0"/>
              <a:t>파랑)</a:t>
            </a:r>
            <a:r>
              <a:rPr lang="ko-KR" altLang="en-US" sz="1400" dirty="0"/>
              <a:t>수동모드</a:t>
            </a:r>
            <a:endParaRPr lang="en-US" altLang="ko-KR" sz="1400" dirty="0"/>
          </a:p>
          <a:p>
            <a:r>
              <a:rPr lang="ko-KR" altLang="en-US" dirty="0"/>
              <a:t>빨강)</a:t>
            </a:r>
            <a:r>
              <a:rPr lang="ko-KR" altLang="en-US" sz="1400" dirty="0"/>
              <a:t>물 분사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65BB88-4B38-27AD-9524-566AD3A82988}"/>
              </a:ext>
            </a:extLst>
          </p:cNvPr>
          <p:cNvSpPr txBox="1"/>
          <p:nvPr/>
        </p:nvSpPr>
        <p:spPr>
          <a:xfrm>
            <a:off x="4567872" y="1419328"/>
            <a:ext cx="27035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수동</a:t>
            </a:r>
            <a:r>
              <a:rPr lang="en-US" altLang="ko-KR" dirty="0"/>
              <a:t>/</a:t>
            </a:r>
            <a:r>
              <a:rPr lang="ko-KR" altLang="en-US" dirty="0"/>
              <a:t>자동 모드전환</a:t>
            </a:r>
            <a:endParaRPr lang="en-US" altLang="ko-KR" dirty="0"/>
          </a:p>
          <a:p>
            <a:r>
              <a:rPr lang="ko-KR" altLang="en-US" dirty="0"/>
              <a:t>추가적인 움직임 제어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FC5068-546D-A81D-A488-9970B926CAEC}"/>
              </a:ext>
            </a:extLst>
          </p:cNvPr>
          <p:cNvSpPr txBox="1"/>
          <p:nvPr/>
        </p:nvSpPr>
        <p:spPr>
          <a:xfrm>
            <a:off x="9993745" y="2713368"/>
            <a:ext cx="1653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차 검증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2470E2-4BCC-CC61-4106-C9FDA581B2A5}"/>
              </a:ext>
            </a:extLst>
          </p:cNvPr>
          <p:cNvSpPr txBox="1"/>
          <p:nvPr/>
        </p:nvSpPr>
        <p:spPr>
          <a:xfrm>
            <a:off x="9993745" y="4229195"/>
            <a:ext cx="1348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차 검증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5CB2E1A-FADC-9CFA-7A16-BFBCF58B4940}"/>
              </a:ext>
            </a:extLst>
          </p:cNvPr>
          <p:cNvCxnSpPr/>
          <p:nvPr/>
        </p:nvCxnSpPr>
        <p:spPr>
          <a:xfrm flipH="1">
            <a:off x="7528289" y="3814618"/>
            <a:ext cx="7632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FE0BDD-9CFF-E8D5-D7E4-5AF2DE1F64AA}"/>
              </a:ext>
            </a:extLst>
          </p:cNvPr>
          <p:cNvSpPr txBox="1"/>
          <p:nvPr/>
        </p:nvSpPr>
        <p:spPr>
          <a:xfrm>
            <a:off x="7423776" y="3411951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검증신호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3532E4A7-EC33-C86C-1DC8-F218678F1568}"/>
              </a:ext>
            </a:extLst>
          </p:cNvPr>
          <p:cNvCxnSpPr>
            <a:cxnSpLocks/>
          </p:cNvCxnSpPr>
          <p:nvPr/>
        </p:nvCxnSpPr>
        <p:spPr>
          <a:xfrm flipH="1">
            <a:off x="5837692" y="4850661"/>
            <a:ext cx="11336" cy="6449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6DBE207-FD22-0511-471C-4E3D5B25598A}"/>
              </a:ext>
            </a:extLst>
          </p:cNvPr>
          <p:cNvSpPr txBox="1"/>
          <p:nvPr/>
        </p:nvSpPr>
        <p:spPr>
          <a:xfrm>
            <a:off x="5896352" y="483456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진압신호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92F9C11A-E51B-86D5-1DF0-F49DAD268922}"/>
              </a:ext>
            </a:extLst>
          </p:cNvPr>
          <p:cNvCxnSpPr/>
          <p:nvPr/>
        </p:nvCxnSpPr>
        <p:spPr>
          <a:xfrm>
            <a:off x="5449455" y="2065659"/>
            <a:ext cx="0" cy="590911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5EA4040-B52E-1E51-826D-F5B50A8B4821}"/>
              </a:ext>
            </a:extLst>
          </p:cNvPr>
          <p:cNvSpPr txBox="1"/>
          <p:nvPr/>
        </p:nvSpPr>
        <p:spPr>
          <a:xfrm>
            <a:off x="4454225" y="22088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상태제어</a:t>
            </a: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D1DE505-9C1A-37D4-A588-B7D7BACEFB34}"/>
              </a:ext>
            </a:extLst>
          </p:cNvPr>
          <p:cNvCxnSpPr/>
          <p:nvPr/>
        </p:nvCxnSpPr>
        <p:spPr>
          <a:xfrm flipH="1">
            <a:off x="3815076" y="3703431"/>
            <a:ext cx="7632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A8C726B-30C4-7DB8-B115-84EF9BAF3E54}"/>
              </a:ext>
            </a:extLst>
          </p:cNvPr>
          <p:cNvSpPr txBox="1"/>
          <p:nvPr/>
        </p:nvSpPr>
        <p:spPr>
          <a:xfrm>
            <a:off x="3719058" y="334403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감지신호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FA70A31-F980-5F95-F8A9-410BDA4D7565}"/>
              </a:ext>
            </a:extLst>
          </p:cNvPr>
          <p:cNvCxnSpPr>
            <a:cxnSpLocks/>
          </p:cNvCxnSpPr>
          <p:nvPr/>
        </p:nvCxnSpPr>
        <p:spPr>
          <a:xfrm flipH="1">
            <a:off x="3815076" y="3822950"/>
            <a:ext cx="752796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F866121-76EA-8C68-9994-8F32E0AAD89F}"/>
              </a:ext>
            </a:extLst>
          </p:cNvPr>
          <p:cNvSpPr txBox="1"/>
          <p:nvPr/>
        </p:nvSpPr>
        <p:spPr>
          <a:xfrm>
            <a:off x="3688772" y="386222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상태제어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3AAB980C-863E-6E40-A6CE-E8D11485AD7C}"/>
              </a:ext>
            </a:extLst>
          </p:cNvPr>
          <p:cNvCxnSpPr>
            <a:cxnSpLocks/>
          </p:cNvCxnSpPr>
          <p:nvPr/>
        </p:nvCxnSpPr>
        <p:spPr>
          <a:xfrm>
            <a:off x="5694314" y="4844990"/>
            <a:ext cx="0" cy="65058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3122EE8-56BE-3DAA-2820-358A1F89A274}"/>
              </a:ext>
            </a:extLst>
          </p:cNvPr>
          <p:cNvSpPr txBox="1"/>
          <p:nvPr/>
        </p:nvSpPr>
        <p:spPr>
          <a:xfrm>
            <a:off x="4209863" y="4834563"/>
            <a:ext cx="1478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수동</a:t>
            </a:r>
            <a:r>
              <a:rPr lang="en-US" altLang="ko-KR" sz="1600" dirty="0"/>
              <a:t>)</a:t>
            </a:r>
            <a:r>
              <a:rPr lang="ko-KR" altLang="en-US" sz="1600" dirty="0"/>
              <a:t>진압신호</a:t>
            </a:r>
          </a:p>
        </p:txBody>
      </p:sp>
    </p:spTree>
    <p:extLst>
      <p:ext uri="{BB962C8B-B14F-4D97-AF65-F5344CB8AC3E}">
        <p14:creationId xmlns:p14="http://schemas.microsoft.com/office/powerpoint/2010/main" val="209792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EA5C2-A2D8-9C9C-012E-8EDC7F1BD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포신 제어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28ABD9-2248-511D-7CD7-C9371AC9DEF7}"/>
              </a:ext>
            </a:extLst>
          </p:cNvPr>
          <p:cNvSpPr txBox="1"/>
          <p:nvPr/>
        </p:nvSpPr>
        <p:spPr>
          <a:xfrm>
            <a:off x="838200" y="1854062"/>
            <a:ext cx="4073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카메라의 위치를 포신위에 배치 </a:t>
            </a:r>
          </a:p>
        </p:txBody>
      </p:sp>
      <p:pic>
        <p:nvPicPr>
          <p:cNvPr id="6" name="그림 5" descr="오토마톤, 실내, 바퀴, 자동차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AA911C9-5C05-5DEC-DA08-D61B095A055E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652943" y="609600"/>
            <a:ext cx="4676008" cy="25599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C58050-5C88-7EE5-83F2-E0963463A374}"/>
              </a:ext>
            </a:extLst>
          </p:cNvPr>
          <p:cNvSpPr txBox="1"/>
          <p:nvPr/>
        </p:nvSpPr>
        <p:spPr>
          <a:xfrm>
            <a:off x="838200" y="248808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변수</a:t>
            </a:r>
            <a:endParaRPr lang="en-US" altLang="ko-KR" b="1" dirty="0"/>
          </a:p>
          <a:p>
            <a:r>
              <a:rPr lang="ko-KR" altLang="en-US" dirty="0"/>
              <a:t>서브모터의 고정상태</a:t>
            </a:r>
            <a:endParaRPr lang="en-US" altLang="ko-KR" dirty="0"/>
          </a:p>
          <a:p>
            <a:r>
              <a:rPr lang="ko-KR" altLang="en-US" dirty="0"/>
              <a:t>물 잔량에 따른 </a:t>
            </a:r>
            <a:r>
              <a:rPr lang="ko-KR" altLang="en-US" dirty="0" err="1"/>
              <a:t>수압차</a:t>
            </a:r>
            <a:endParaRPr lang="en-US" altLang="ko-KR" dirty="0"/>
          </a:p>
          <a:p>
            <a:r>
              <a:rPr lang="ko-KR" altLang="en-US" dirty="0"/>
              <a:t>고정되지 않은 호스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094DB-F1D2-BB99-8834-95ACB2964B15}"/>
              </a:ext>
            </a:extLst>
          </p:cNvPr>
          <p:cNvSpPr txBox="1"/>
          <p:nvPr/>
        </p:nvSpPr>
        <p:spPr>
          <a:xfrm>
            <a:off x="838200" y="3953103"/>
            <a:ext cx="3001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문제</a:t>
            </a:r>
            <a:endParaRPr lang="en-US" altLang="ko-KR" b="1" dirty="0"/>
          </a:p>
          <a:p>
            <a:r>
              <a:rPr lang="ko-KR" altLang="en-US" dirty="0"/>
              <a:t>카메라를 통해 알아낸 </a:t>
            </a:r>
            <a:r>
              <a:rPr lang="ko-KR" altLang="en-US" dirty="0" err="1"/>
              <a:t>좌표값으로</a:t>
            </a:r>
            <a:r>
              <a:rPr lang="ko-KR" altLang="en-US" dirty="0"/>
              <a:t> 이동 후 분사하는 물의 정확도 향상의 어려움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63367-80AD-72C2-4064-F7B9CB195650}"/>
              </a:ext>
            </a:extLst>
          </p:cNvPr>
          <p:cNvSpPr txBox="1"/>
          <p:nvPr/>
        </p:nvSpPr>
        <p:spPr>
          <a:xfrm>
            <a:off x="838200" y="5418122"/>
            <a:ext cx="30018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해결</a:t>
            </a:r>
            <a:endParaRPr lang="en-US" altLang="ko-KR" b="1" dirty="0"/>
          </a:p>
          <a:p>
            <a:r>
              <a:rPr lang="ko-KR" altLang="en-US" dirty="0"/>
              <a:t>여러 번의 시도를 통해 서브모터의 값을 조정</a:t>
            </a:r>
            <a:endParaRPr lang="en-US" altLang="ko-KR" dirty="0"/>
          </a:p>
        </p:txBody>
      </p:sp>
      <p:pic>
        <p:nvPicPr>
          <p:cNvPr id="10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8B1163CB-F408-A565-A224-1204B7344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2161" y="2488084"/>
            <a:ext cx="289895" cy="28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29C99EDF-C567-BD3E-22B8-02F1878C9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9085" y="3921896"/>
            <a:ext cx="289895" cy="28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간단한 빨간색 체크 표시 무료 스톡 Vector 이미지, color, line art, remix">
            <a:extLst>
              <a:ext uri="{FF2B5EF4-FFF2-40B4-BE49-F238E27FC236}">
                <a16:creationId xmlns:a16="http://schemas.microsoft.com/office/drawing/2014/main" id="{45AA99D5-F0C7-501A-1C4F-2E5068B75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39085" y="5418122"/>
            <a:ext cx="289895" cy="28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526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DD7F5D-D8B0-3C12-045C-644A025A8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최종 형태 구조</a:t>
            </a:r>
          </a:p>
        </p:txBody>
      </p:sp>
      <p:pic>
        <p:nvPicPr>
          <p:cNvPr id="5" name="그림 4" descr="오토마톤, 실내, 바퀴, 자동차 부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62204C-A2AF-015D-33E7-DB3D5EC7BEF6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3492" y="1607128"/>
            <a:ext cx="6391562" cy="4793672"/>
          </a:xfrm>
          <a:prstGeom prst="rect">
            <a:avLst/>
          </a:prstGeom>
        </p:spPr>
      </p:pic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9E2260C-6777-FB51-7901-3023E8177823}"/>
              </a:ext>
            </a:extLst>
          </p:cNvPr>
          <p:cNvCxnSpPr>
            <a:cxnSpLocks/>
          </p:cNvCxnSpPr>
          <p:nvPr/>
        </p:nvCxnSpPr>
        <p:spPr>
          <a:xfrm flipH="1">
            <a:off x="4544292" y="4913746"/>
            <a:ext cx="3251200" cy="0"/>
          </a:xfrm>
          <a:prstGeom prst="line">
            <a:avLst/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A4961B2-4CF9-401B-8C4A-DC381E59C881}"/>
              </a:ext>
            </a:extLst>
          </p:cNvPr>
          <p:cNvCxnSpPr>
            <a:cxnSpLocks/>
          </p:cNvCxnSpPr>
          <p:nvPr/>
        </p:nvCxnSpPr>
        <p:spPr>
          <a:xfrm flipH="1">
            <a:off x="4424218" y="2366963"/>
            <a:ext cx="3343563" cy="1925782"/>
          </a:xfrm>
          <a:prstGeom prst="line">
            <a:avLst/>
          </a:prstGeom>
          <a:ln w="190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E433B99-1032-B255-A0DD-8299E0A5683A}"/>
              </a:ext>
            </a:extLst>
          </p:cNvPr>
          <p:cNvSpPr txBox="1"/>
          <p:nvPr/>
        </p:nvSpPr>
        <p:spPr>
          <a:xfrm>
            <a:off x="7908637" y="1856509"/>
            <a:ext cx="41473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상단부</a:t>
            </a:r>
            <a:endParaRPr lang="en-US" altLang="ko-KR" b="1" dirty="0"/>
          </a:p>
          <a:p>
            <a:r>
              <a:rPr lang="en-US" altLang="ko-KR" dirty="0"/>
              <a:t>-</a:t>
            </a:r>
            <a:r>
              <a:rPr lang="ko-KR" altLang="en-US" dirty="0" err="1"/>
              <a:t>라즈베리파이</a:t>
            </a:r>
            <a:r>
              <a:rPr lang="en-US" altLang="ko-KR" dirty="0"/>
              <a:t>5 </a:t>
            </a:r>
            <a:r>
              <a:rPr lang="ko-KR" altLang="en-US" dirty="0"/>
              <a:t>및 파이용 배터리 팩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포신</a:t>
            </a:r>
            <a:r>
              <a:rPr lang="en-US" altLang="ko-KR" dirty="0"/>
              <a:t>(</a:t>
            </a:r>
            <a:r>
              <a:rPr lang="ko-KR" altLang="en-US" dirty="0"/>
              <a:t>카메라</a:t>
            </a:r>
            <a:r>
              <a:rPr lang="en-US" altLang="ko-KR" dirty="0"/>
              <a:t>,</a:t>
            </a:r>
            <a:r>
              <a:rPr lang="ko-KR" altLang="en-US" dirty="0"/>
              <a:t>호스</a:t>
            </a:r>
            <a:r>
              <a:rPr lang="en-US" altLang="ko-KR" dirty="0"/>
              <a:t>,</a:t>
            </a:r>
            <a:r>
              <a:rPr lang="ko-KR" altLang="en-US" dirty="0"/>
              <a:t>불꽃감지센서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물 저장소</a:t>
            </a:r>
            <a:r>
              <a:rPr lang="en-US" altLang="ko-KR" dirty="0"/>
              <a:t> </a:t>
            </a:r>
            <a:r>
              <a:rPr lang="ko-KR" altLang="en-US" dirty="0"/>
              <a:t>및 펌프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서브모터</a:t>
            </a:r>
            <a:r>
              <a:rPr lang="en-US" altLang="ko-KR" dirty="0"/>
              <a:t>X2 </a:t>
            </a:r>
            <a:r>
              <a:rPr lang="ko-KR" altLang="en-US" dirty="0"/>
              <a:t>및 모터드라이버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상태표시용 </a:t>
            </a:r>
            <a:r>
              <a:rPr lang="en-US" altLang="ko-KR" dirty="0"/>
              <a:t>RGB </a:t>
            </a:r>
            <a:r>
              <a:rPr lang="ko-KR" altLang="en-US" dirty="0"/>
              <a:t>센서</a:t>
            </a:r>
            <a:endParaRPr lang="en-US" altLang="ko-KR" dirty="0"/>
          </a:p>
          <a:p>
            <a:r>
              <a:rPr lang="en-US" altLang="ko-KR" dirty="0"/>
              <a:t>-5v, 3.3v</a:t>
            </a:r>
            <a:r>
              <a:rPr lang="ko-KR" altLang="en-US" dirty="0"/>
              <a:t>공급 배터리 팩 및 </a:t>
            </a:r>
            <a:r>
              <a:rPr lang="ko-KR" altLang="en-US" dirty="0" err="1"/>
              <a:t>브레드보드</a:t>
            </a:r>
            <a:r>
              <a:rPr lang="ko-KR" alt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6A285-4C51-6667-C613-4A41A88F9448}"/>
              </a:ext>
            </a:extLst>
          </p:cNvPr>
          <p:cNvSpPr txBox="1"/>
          <p:nvPr/>
        </p:nvSpPr>
        <p:spPr>
          <a:xfrm>
            <a:off x="7908637" y="4590472"/>
            <a:ext cx="36760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하단부</a:t>
            </a:r>
            <a:endParaRPr lang="en-US" altLang="ko-KR" b="1" dirty="0"/>
          </a:p>
          <a:p>
            <a:r>
              <a:rPr lang="en-US" altLang="ko-KR" dirty="0"/>
              <a:t>-5v, 3.3v DCDC</a:t>
            </a:r>
            <a:r>
              <a:rPr lang="ko-KR" altLang="en-US" dirty="0"/>
              <a:t>컨버터 및 스위치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모터드라이버 연결 </a:t>
            </a:r>
            <a:r>
              <a:rPr lang="ko-KR" altLang="en-US" dirty="0" err="1"/>
              <a:t>브레드보드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모터</a:t>
            </a:r>
            <a:r>
              <a:rPr lang="en-US" altLang="ko-KR" dirty="0"/>
              <a:t>4</a:t>
            </a:r>
            <a:r>
              <a:rPr lang="ko-KR" altLang="en-US" dirty="0"/>
              <a:t>개를 위한 배터리 팩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배터리 공급 차단 스위치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모터드라이버</a:t>
            </a:r>
          </a:p>
        </p:txBody>
      </p:sp>
    </p:spTree>
    <p:extLst>
      <p:ext uri="{BB962C8B-B14F-4D97-AF65-F5344CB8AC3E}">
        <p14:creationId xmlns:p14="http://schemas.microsoft.com/office/powerpoint/2010/main" val="2892830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E2EBFD-8F2A-E9A5-B4EC-EA6EB425F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t"/>
            <a:r>
              <a:rPr lang="ko-KR" altLang="en-US" dirty="0"/>
              <a:t>소회 所懷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B0B2D6-04F9-D87E-74A0-71A932101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정용철 </a:t>
            </a:r>
            <a:r>
              <a:rPr lang="en-US" altLang="ko-KR" dirty="0"/>
              <a:t>: </a:t>
            </a:r>
            <a:r>
              <a:rPr lang="ko-KR" altLang="en-US" sz="2000" dirty="0"/>
              <a:t>지난학기에 </a:t>
            </a:r>
            <a:r>
              <a:rPr lang="ko-KR" altLang="en-US" sz="2000" err="1"/>
              <a:t>했던것을</a:t>
            </a:r>
            <a:r>
              <a:rPr lang="ko-KR" altLang="en-US" sz="2000"/>
              <a:t> 추가한건데 </a:t>
            </a:r>
            <a:r>
              <a:rPr lang="ko-KR" altLang="en-US" sz="2000" dirty="0"/>
              <a:t>너무 생각보다 에로사항이 많았고 </a:t>
            </a:r>
            <a:r>
              <a:rPr lang="ko-KR" altLang="en-US" sz="2000" dirty="0" err="1"/>
              <a:t>최종결과물보면</a:t>
            </a:r>
            <a:r>
              <a:rPr lang="ko-KR" altLang="en-US" sz="2000" dirty="0"/>
              <a:t> </a:t>
            </a:r>
            <a:r>
              <a:rPr lang="ko-KR" altLang="en-US" sz="2000" dirty="0" err="1"/>
              <a:t>낭만넘치고</a:t>
            </a:r>
            <a:r>
              <a:rPr lang="ko-KR" altLang="en-US" sz="2000" dirty="0"/>
              <a:t> 재밌었다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dirty="0"/>
              <a:t>고리환 </a:t>
            </a:r>
            <a:r>
              <a:rPr lang="en-US" altLang="ko-KR" dirty="0"/>
              <a:t>: </a:t>
            </a:r>
            <a:r>
              <a:rPr lang="ko-KR" altLang="en-US" sz="2000" dirty="0"/>
              <a:t>우리가 사전에 조심할 사항을 알아보고 체크했으면 큰 참사를 막을 수 있지 않았을까 싶다</a:t>
            </a:r>
            <a:r>
              <a:rPr lang="en-US" altLang="ko-KR" sz="2000" dirty="0"/>
              <a:t>(</a:t>
            </a:r>
            <a:r>
              <a:rPr lang="ko-KR" altLang="en-US" sz="2000" dirty="0"/>
              <a:t>사실 많이 알아봄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왜터진지</a:t>
            </a:r>
            <a:r>
              <a:rPr lang="ko-KR" altLang="en-US" sz="2000" dirty="0"/>
              <a:t> 진짜 모름</a:t>
            </a:r>
            <a:r>
              <a:rPr lang="en-US" altLang="ko-KR" sz="2000" dirty="0"/>
              <a:t>)</a:t>
            </a:r>
          </a:p>
          <a:p>
            <a:pPr marL="0" indent="0">
              <a:buNone/>
            </a:pPr>
            <a:r>
              <a:rPr lang="ko-KR" altLang="en-US" dirty="0" err="1"/>
              <a:t>박근범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2000" dirty="0"/>
              <a:t>저번 학기에서는 차체를 직접 만들었지만 이번 학기에는 차체를 구매하고 여러 센서만 추가하면 </a:t>
            </a:r>
            <a:r>
              <a:rPr lang="ko-KR" altLang="en-US" sz="2000" dirty="0" err="1"/>
              <a:t>끝인줄</a:t>
            </a:r>
            <a:r>
              <a:rPr lang="ko-KR" altLang="en-US" sz="2000" dirty="0"/>
              <a:t> 알았으나 예상치 못한 오류들로 인하여 어려움이 있어서 당황했다</a:t>
            </a:r>
            <a:endParaRPr lang="en-US" altLang="ko-KR" sz="2000" dirty="0"/>
          </a:p>
          <a:p>
            <a:pPr marL="0" indent="0">
              <a:buNone/>
            </a:pPr>
            <a:r>
              <a:rPr lang="ko-KR" altLang="en-US" dirty="0" err="1"/>
              <a:t>문창희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sz="2000" dirty="0"/>
              <a:t>이미 </a:t>
            </a:r>
            <a:r>
              <a:rPr lang="ko-KR" altLang="en-US" sz="2000" dirty="0" err="1"/>
              <a:t>만들어져있는</a:t>
            </a:r>
            <a:r>
              <a:rPr lang="ko-KR" altLang="en-US" sz="2000" dirty="0"/>
              <a:t> 완제품을 생각하여 쉽게 구현할 수 있을 것 같았지만 코드 내의 센서들의 정말 사소한 각도나 측정값의 차이들로 원하는 결론에 다가가는 과정이 </a:t>
            </a:r>
            <a:r>
              <a:rPr lang="ko-KR" altLang="en-US" sz="2000" dirty="0" err="1"/>
              <a:t>어렵다는걸</a:t>
            </a:r>
            <a:r>
              <a:rPr lang="ko-KR" altLang="en-US" sz="2000" dirty="0"/>
              <a:t> 다시 한 번 뼈저리게 느끼는 계기가 </a:t>
            </a:r>
            <a:r>
              <a:rPr lang="ko-KR" altLang="en-US" sz="2000" dirty="0" err="1"/>
              <a:t>되었당</a:t>
            </a:r>
            <a:endParaRPr lang="ko-KR" altLang="en-US" sz="2000" dirty="0"/>
          </a:p>
          <a:p>
            <a:pPr marL="0" indent="0">
              <a:buNone/>
            </a:pPr>
            <a:endParaRPr lang="ko-KR" altLang="en-US" sz="2000" dirty="0"/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9032771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DA3BCE-F604-0989-1571-625DF5C43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6490" y="2766218"/>
            <a:ext cx="3087255" cy="1325563"/>
          </a:xfrm>
        </p:spPr>
        <p:txBody>
          <a:bodyPr/>
          <a:lstStyle/>
          <a:p>
            <a:r>
              <a:rPr lang="ko-KR" altLang="en-US" dirty="0"/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83970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</TotalTime>
  <Words>826</Words>
  <Application>Microsoft Office PowerPoint</Application>
  <PresentationFormat>와이드스크린</PresentationFormat>
  <Paragraphs>156</Paragraphs>
  <Slides>16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맑은 고딕</vt:lpstr>
      <vt:lpstr>Arial</vt:lpstr>
      <vt:lpstr>Office 테마</vt:lpstr>
      <vt:lpstr>4조 방화광 최종발표</vt:lpstr>
      <vt:lpstr>라즈베리파이 기반 자동 소방 차량</vt:lpstr>
      <vt:lpstr>PowerPoint 프레젠테이션</vt:lpstr>
      <vt:lpstr>PowerPoint 프레젠테이션</vt:lpstr>
      <vt:lpstr>자율주행의 어려움</vt:lpstr>
      <vt:lpstr>첫 시행, 첫 실패</vt:lpstr>
      <vt:lpstr>원인 분석, 목표 재설정</vt:lpstr>
      <vt:lpstr>더 가볍고, 빠르고, 정확하게</vt:lpstr>
      <vt:lpstr>두번째 시행, 두번째 시련</vt:lpstr>
      <vt:lpstr>최종 코드 구조 설명</vt:lpstr>
      <vt:lpstr>최종 코드 구조 설명</vt:lpstr>
      <vt:lpstr>작동 구조</vt:lpstr>
      <vt:lpstr>포신 제어</vt:lpstr>
      <vt:lpstr>최종 형태 구조</vt:lpstr>
      <vt:lpstr>소회 所懷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고준영</dc:creator>
  <cp:lastModifiedBy>Jeong Yongcheol</cp:lastModifiedBy>
  <cp:revision>9</cp:revision>
  <dcterms:created xsi:type="dcterms:W3CDTF">2025-12-06T13:50:00Z</dcterms:created>
  <dcterms:modified xsi:type="dcterms:W3CDTF">2026-01-22T05:08:47Z</dcterms:modified>
</cp:coreProperties>
</file>